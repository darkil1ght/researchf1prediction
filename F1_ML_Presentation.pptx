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1" d="100"/>
          <a:sy n="101" d="100"/>
        </p:scale>
        <p:origin x="69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autoTitleDeleted val="1"/>
    <c:plotArea>
      <c:layout/>
      <c:barChart>
        <c:barDir val="col"/>
        <c:grouping val="clustered"/>
        <c:varyColors val="0"/>
        <c:ser>
          <c:idx val="0"/>
          <c:order val="0"/>
          <c:tx>
            <c:strRef>
              <c:f>Sheet1!$B$1</c:f>
              <c:strCache>
                <c:ptCount val="1"/>
                <c:pt idx="0">
                  <c:v>F1-Score</c:v>
                </c:pt>
              </c:strCache>
            </c:strRef>
          </c:tx>
          <c:spPr>
            <a:solidFill>
              <a:srgbClr val="4A90D9"/>
            </a:solidFill>
            <a:effectLst/>
          </c:spPr>
          <c:invertIfNegative val="0"/>
          <c:dPt>
            <c:idx val="0"/>
            <c:invertIfNegative val="0"/>
            <c:bubble3D val="0"/>
            <c:extLst>
              <c:ext xmlns:c16="http://schemas.microsoft.com/office/drawing/2014/chart" uri="{C3380CC4-5D6E-409C-BE32-E72D297353CC}">
                <c16:uniqueId val="{00000001-4DE0-4333-93BF-F0FCE5D17889}"/>
              </c:ext>
            </c:extLst>
          </c:dPt>
          <c:dPt>
            <c:idx val="1"/>
            <c:invertIfNegative val="0"/>
            <c:bubble3D val="0"/>
            <c:spPr>
              <a:solidFill>
                <a:srgbClr val="5BA85A"/>
              </a:solidFill>
              <a:effectLst/>
            </c:spPr>
            <c:extLst>
              <c:ext xmlns:c16="http://schemas.microsoft.com/office/drawing/2014/chart" uri="{C3380CC4-5D6E-409C-BE32-E72D297353CC}">
                <c16:uniqueId val="{00000003-4DE0-4333-93BF-F0FCE5D17889}"/>
              </c:ext>
            </c:extLst>
          </c:dPt>
          <c:dPt>
            <c:idx val="2"/>
            <c:invertIfNegative val="0"/>
            <c:bubble3D val="0"/>
            <c:spPr>
              <a:solidFill>
                <a:srgbClr val="E8A838"/>
              </a:solidFill>
              <a:effectLst/>
            </c:spPr>
            <c:extLst>
              <c:ext xmlns:c16="http://schemas.microsoft.com/office/drawing/2014/chart" uri="{C3380CC4-5D6E-409C-BE32-E72D297353CC}">
                <c16:uniqueId val="{00000005-4DE0-4333-93BF-F0FCE5D17889}"/>
              </c:ext>
            </c:extLst>
          </c:dPt>
          <c:dPt>
            <c:idx val="3"/>
            <c:invertIfNegative val="0"/>
            <c:bubble3D val="0"/>
            <c:spPr>
              <a:solidFill>
                <a:srgbClr val="E94560"/>
              </a:solidFill>
              <a:effectLst/>
            </c:spPr>
            <c:extLst>
              <c:ext xmlns:c16="http://schemas.microsoft.com/office/drawing/2014/chart" uri="{C3380CC4-5D6E-409C-BE32-E72D297353CC}">
                <c16:uniqueId val="{00000007-4DE0-4333-93BF-F0FCE5D17889}"/>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Logistic
Regression</c:v>
                </c:pt>
                <c:pt idx="1">
                  <c:v>LightGBM</c:v>
                </c:pt>
                <c:pt idx="2">
                  <c:v>Random
Forest</c:v>
                </c:pt>
                <c:pt idx="3">
                  <c:v>XGBoost</c:v>
                </c:pt>
              </c:strCache>
            </c:strRef>
          </c:cat>
          <c:val>
            <c:numRef>
              <c:f>Sheet1!$B$2:$B$5</c:f>
              <c:numCache>
                <c:formatCode>General</c:formatCode>
                <c:ptCount val="4"/>
                <c:pt idx="0">
                  <c:v>0.33300000000000002</c:v>
                </c:pt>
                <c:pt idx="1">
                  <c:v>0.34799999999999998</c:v>
                </c:pt>
                <c:pt idx="2">
                  <c:v>0.38300000000000001</c:v>
                </c:pt>
                <c:pt idx="3">
                  <c:v>0.45700000000000002</c:v>
                </c:pt>
              </c:numCache>
            </c:numRef>
          </c:val>
          <c:extLst>
            <c:ext xmlns:c16="http://schemas.microsoft.com/office/drawing/2014/chart" uri="{C3380CC4-5D6E-409C-BE32-E72D297353CC}">
              <c16:uniqueId val="{00000008-4DE0-4333-93BF-F0FCE5D178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66"/>
                </a:solidFill>
                <a:latin typeface="Arial"/>
              </a:defRPr>
            </a:pPr>
            <a:endParaRPr lang="en-US"/>
          </a:p>
        </c:txPr>
        <c:crossAx val="2094734552"/>
        <c:crosses val="autoZero"/>
        <c:auto val="1"/>
        <c:lblAlgn val="ctr"/>
        <c:lblOffset val="100"/>
        <c:noMultiLvlLbl val="1"/>
      </c:catAx>
      <c:valAx>
        <c:axId val="2094734552"/>
        <c:scaling>
          <c:orientation val="minMax"/>
          <c:max val="0.55000000000000004"/>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autoTitleDeleted val="1"/>
    <c:plotArea>
      <c:layout/>
      <c:barChart>
        <c:barDir val="bar"/>
        <c:grouping val="clustered"/>
        <c:varyColors val="0"/>
        <c:ser>
          <c:idx val="0"/>
          <c:order val="0"/>
          <c:tx>
            <c:strRef>
              <c:f>Sheet1!$B$1</c:f>
              <c:strCache>
                <c:ptCount val="1"/>
                <c:pt idx="0">
                  <c:v>Race Acc.</c:v>
                </c:pt>
              </c:strCache>
            </c:strRef>
          </c:tx>
          <c:spPr>
            <a:solidFill>
              <a:srgbClr val="4A90D9"/>
            </a:solidFill>
            <a:effectLst/>
          </c:spPr>
          <c:invertIfNegative val="0"/>
          <c:dPt>
            <c:idx val="0"/>
            <c:invertIfNegative val="0"/>
            <c:bubble3D val="0"/>
            <c:extLst>
              <c:ext xmlns:c16="http://schemas.microsoft.com/office/drawing/2014/chart" uri="{C3380CC4-5D6E-409C-BE32-E72D297353CC}">
                <c16:uniqueId val="{00000001-5222-415D-9689-3E1848817E96}"/>
              </c:ext>
            </c:extLst>
          </c:dPt>
          <c:dPt>
            <c:idx val="1"/>
            <c:invertIfNegative val="0"/>
            <c:bubble3D val="0"/>
            <c:spPr>
              <a:solidFill>
                <a:srgbClr val="5BA85A"/>
              </a:solidFill>
              <a:effectLst/>
            </c:spPr>
            <c:extLst>
              <c:ext xmlns:c16="http://schemas.microsoft.com/office/drawing/2014/chart" uri="{C3380CC4-5D6E-409C-BE32-E72D297353CC}">
                <c16:uniqueId val="{00000003-5222-415D-9689-3E1848817E96}"/>
              </c:ext>
            </c:extLst>
          </c:dPt>
          <c:dPt>
            <c:idx val="2"/>
            <c:invertIfNegative val="0"/>
            <c:bubble3D val="0"/>
            <c:spPr>
              <a:solidFill>
                <a:srgbClr val="E8A838"/>
              </a:solidFill>
              <a:effectLst/>
            </c:spPr>
            <c:extLst>
              <c:ext xmlns:c16="http://schemas.microsoft.com/office/drawing/2014/chart" uri="{C3380CC4-5D6E-409C-BE32-E72D297353CC}">
                <c16:uniqueId val="{00000005-5222-415D-9689-3E1848817E96}"/>
              </c:ext>
            </c:extLst>
          </c:dPt>
          <c:dPt>
            <c:idx val="3"/>
            <c:invertIfNegative val="0"/>
            <c:bubble3D val="0"/>
            <c:spPr>
              <a:solidFill>
                <a:srgbClr val="27AE60"/>
              </a:solidFill>
              <a:effectLst/>
            </c:spPr>
            <c:extLst>
              <c:ext xmlns:c16="http://schemas.microsoft.com/office/drawing/2014/chart" uri="{C3380CC4-5D6E-409C-BE32-E72D297353CC}">
                <c16:uniqueId val="{00000007-5222-415D-9689-3E1848817E96}"/>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LR</c:v>
                </c:pt>
                <c:pt idx="1">
                  <c:v>LightGBM</c:v>
                </c:pt>
                <c:pt idx="2">
                  <c:v>XGBoost</c:v>
                </c:pt>
                <c:pt idx="3">
                  <c:v>Rand Forest</c:v>
                </c:pt>
              </c:strCache>
            </c:strRef>
          </c:cat>
          <c:val>
            <c:numRef>
              <c:f>Sheet1!$B$2:$B$5</c:f>
              <c:numCache>
                <c:formatCode>General</c:formatCode>
                <c:ptCount val="4"/>
                <c:pt idx="0">
                  <c:v>0.33300000000000002</c:v>
                </c:pt>
                <c:pt idx="1">
                  <c:v>0.33300000000000002</c:v>
                </c:pt>
                <c:pt idx="2">
                  <c:v>0.375</c:v>
                </c:pt>
                <c:pt idx="3">
                  <c:v>0.41699999999999998</c:v>
                </c:pt>
              </c:numCache>
            </c:numRef>
          </c:val>
          <c:extLst>
            <c:ext xmlns:c16="http://schemas.microsoft.com/office/drawing/2014/chart" uri="{C3380CC4-5D6E-409C-BE32-E72D297353CC}">
              <c16:uniqueId val="{00000008-5222-415D-9689-3E1848817E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4466"/>
                </a:solidFill>
                <a:latin typeface="Arial"/>
              </a:defRPr>
            </a:pPr>
            <a:endParaRPr lang="en-US"/>
          </a:p>
        </c:txPr>
        <c:crossAx val="2094734552"/>
        <c:crosses val="autoZero"/>
        <c:auto val="1"/>
        <c:lblAlgn val="ctr"/>
        <c:lblOffset val="100"/>
        <c:noMultiLvlLbl val="1"/>
      </c:catAx>
      <c:valAx>
        <c:axId val="2094734552"/>
        <c:scaling>
          <c:orientation val="minMax"/>
          <c:max val="0.5"/>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444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autoTitleDeleted val="1"/>
    <c:plotArea>
      <c:layout/>
      <c:barChart>
        <c:barDir val="bar"/>
        <c:grouping val="clustered"/>
        <c:varyColors val="0"/>
        <c:ser>
          <c:idx val="0"/>
          <c:order val="0"/>
          <c:tx>
            <c:strRef>
              <c:f>Sheet1!$B$1</c:f>
              <c:strCache>
                <c:ptCount val="1"/>
                <c:pt idx="0">
                  <c:v>Mean |SHAP|</c:v>
                </c:pt>
              </c:strCache>
            </c:strRef>
          </c:tx>
          <c:spPr>
            <a:solidFill>
              <a:srgbClr val="4A7AAD"/>
            </a:solidFill>
            <a:effectLst/>
          </c:spPr>
          <c:invertIfNegative val="0"/>
          <c:dPt>
            <c:idx val="0"/>
            <c:invertIfNegative val="0"/>
            <c:bubble3D val="0"/>
            <c:extLst>
              <c:ext xmlns:c16="http://schemas.microsoft.com/office/drawing/2014/chart" uri="{C3380CC4-5D6E-409C-BE32-E72D297353CC}">
                <c16:uniqueId val="{00000001-0C33-4CD2-A5DD-2274FA97FA9C}"/>
              </c:ext>
            </c:extLst>
          </c:dPt>
          <c:dPt>
            <c:idx val="1"/>
            <c:invertIfNegative val="0"/>
            <c:bubble3D val="0"/>
            <c:extLst>
              <c:ext xmlns:c16="http://schemas.microsoft.com/office/drawing/2014/chart" uri="{C3380CC4-5D6E-409C-BE32-E72D297353CC}">
                <c16:uniqueId val="{00000003-0C33-4CD2-A5DD-2274FA97FA9C}"/>
              </c:ext>
            </c:extLst>
          </c:dPt>
          <c:dPt>
            <c:idx val="2"/>
            <c:invertIfNegative val="0"/>
            <c:bubble3D val="0"/>
            <c:spPr>
              <a:solidFill>
                <a:srgbClr val="5BA85A"/>
              </a:solidFill>
              <a:effectLst/>
            </c:spPr>
            <c:extLst>
              <c:ext xmlns:c16="http://schemas.microsoft.com/office/drawing/2014/chart" uri="{C3380CC4-5D6E-409C-BE32-E72D297353CC}">
                <c16:uniqueId val="{00000005-0C33-4CD2-A5DD-2274FA97FA9C}"/>
              </c:ext>
            </c:extLst>
          </c:dPt>
          <c:dPt>
            <c:idx val="3"/>
            <c:invertIfNegative val="0"/>
            <c:bubble3D val="0"/>
            <c:spPr>
              <a:solidFill>
                <a:srgbClr val="5BA85A"/>
              </a:solidFill>
              <a:effectLst/>
            </c:spPr>
            <c:extLst>
              <c:ext xmlns:c16="http://schemas.microsoft.com/office/drawing/2014/chart" uri="{C3380CC4-5D6E-409C-BE32-E72D297353CC}">
                <c16:uniqueId val="{00000007-0C33-4CD2-A5DD-2274FA97FA9C}"/>
              </c:ext>
            </c:extLst>
          </c:dPt>
          <c:dPt>
            <c:idx val="4"/>
            <c:invertIfNegative val="0"/>
            <c:bubble3D val="0"/>
            <c:spPr>
              <a:solidFill>
                <a:srgbClr val="E8A838"/>
              </a:solidFill>
              <a:effectLst/>
            </c:spPr>
            <c:extLst>
              <c:ext xmlns:c16="http://schemas.microsoft.com/office/drawing/2014/chart" uri="{C3380CC4-5D6E-409C-BE32-E72D297353CC}">
                <c16:uniqueId val="{00000009-0C33-4CD2-A5DD-2274FA97FA9C}"/>
              </c:ext>
            </c:extLst>
          </c:dPt>
          <c:dPt>
            <c:idx val="5"/>
            <c:invertIfNegative val="0"/>
            <c:bubble3D val="0"/>
            <c:spPr>
              <a:solidFill>
                <a:srgbClr val="E8A838"/>
              </a:solidFill>
              <a:effectLst/>
            </c:spPr>
            <c:extLst>
              <c:ext xmlns:c16="http://schemas.microsoft.com/office/drawing/2014/chart" uri="{C3380CC4-5D6E-409C-BE32-E72D297353CC}">
                <c16:uniqueId val="{0000000B-0C33-4CD2-A5DD-2274FA97FA9C}"/>
              </c:ext>
            </c:extLst>
          </c:dPt>
          <c:dPt>
            <c:idx val="6"/>
            <c:invertIfNegative val="0"/>
            <c:bubble3D val="0"/>
            <c:spPr>
              <a:solidFill>
                <a:srgbClr val="E94560"/>
              </a:solidFill>
              <a:effectLst/>
            </c:spPr>
            <c:extLst>
              <c:ext xmlns:c16="http://schemas.microsoft.com/office/drawing/2014/chart" uri="{C3380CC4-5D6E-409C-BE32-E72D297353CC}">
                <c16:uniqueId val="{0000000D-0C33-4CD2-A5DD-2274FA97FA9C}"/>
              </c:ext>
            </c:extLst>
          </c:dPt>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Weather</c:v>
                </c:pt>
                <c:pt idx="1">
                  <c:v>CircuitType</c:v>
                </c:pt>
                <c:pt idx="2">
                  <c:v>ConstructorStrength</c:v>
                </c:pt>
                <c:pt idx="3">
                  <c:v>HistoricalWinRate</c:v>
                </c:pt>
                <c:pt idx="4">
                  <c:v>PrevSeasonConstrRank</c:v>
                </c:pt>
                <c:pt idx="5">
                  <c:v>AvgFinishPosition</c:v>
                </c:pt>
                <c:pt idx="6">
                  <c:v>QualifyingPosition</c:v>
                </c:pt>
              </c:strCache>
            </c:strRef>
          </c:cat>
          <c:val>
            <c:numRef>
              <c:f>Sheet1!$B$2:$B$8</c:f>
              <c:numCache>
                <c:formatCode>General</c:formatCode>
                <c:ptCount val="7"/>
                <c:pt idx="0">
                  <c:v>5.1999999999999998E-2</c:v>
                </c:pt>
                <c:pt idx="1">
                  <c:v>0.09</c:v>
                </c:pt>
                <c:pt idx="2">
                  <c:v>0.36</c:v>
                </c:pt>
                <c:pt idx="3">
                  <c:v>0.48</c:v>
                </c:pt>
                <c:pt idx="4">
                  <c:v>1.363</c:v>
                </c:pt>
                <c:pt idx="5">
                  <c:v>1.6319999999999999</c:v>
                </c:pt>
                <c:pt idx="6">
                  <c:v>2.0289999999999999</c:v>
                </c:pt>
              </c:numCache>
            </c:numRef>
          </c:val>
          <c:extLst>
            <c:ext xmlns:c16="http://schemas.microsoft.com/office/drawing/2014/chart" uri="{C3380CC4-5D6E-409C-BE32-E72D297353CC}">
              <c16:uniqueId val="{0000000E-0C33-4CD2-A5DD-2274FA97FA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D0D0E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3446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D0D0E0"/>
                </a:solidFill>
                <a:latin typeface="Arial"/>
              </a:defRPr>
            </a:pPr>
            <a:endParaRPr lang="en-US"/>
          </a:p>
        </c:txPr>
        <c:crossAx val="2094734554"/>
        <c:crosses val="autoZero"/>
        <c:crossBetween val="between"/>
      </c:valAx>
      <c:spPr>
        <a:solidFill>
          <a:srgbClr val="16213E"/>
        </a:solidFill>
        <a:ln>
          <a:noFill/>
        </a:ln>
        <a:effectLst/>
      </c:spPr>
    </c:plotArea>
    <c:plotVisOnly val="1"/>
    <c:dispBlanksAs val="span"/>
    <c:showDLblsOverMax val="1"/>
  </c:chart>
  <c:spPr>
    <a:solidFill>
      <a:srgbClr val="16213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48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C0000"/>
          </a:solidFill>
          <a:ln w="12700">
            <a:solidFill>
              <a:srgbClr val="CC0000"/>
            </a:solidFill>
            <a:prstDash val="solid"/>
          </a:ln>
        </p:spPr>
      </p:sp>
      <p:sp>
        <p:nvSpPr>
          <p:cNvPr id="3" name="Text 1"/>
          <p:cNvSpPr/>
          <p:nvPr/>
        </p:nvSpPr>
        <p:spPr>
          <a:xfrm>
            <a:off x="365760" y="777240"/>
            <a:ext cx="8412480" cy="77724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Predicting Formula 1</a:t>
            </a:r>
            <a:endParaRPr lang="en-US" sz="4400" dirty="0"/>
          </a:p>
        </p:txBody>
      </p:sp>
      <p:sp>
        <p:nvSpPr>
          <p:cNvPr id="4" name="Text 2"/>
          <p:cNvSpPr/>
          <p:nvPr/>
        </p:nvSpPr>
        <p:spPr>
          <a:xfrm>
            <a:off x="365760" y="1463040"/>
            <a:ext cx="8412480" cy="777240"/>
          </a:xfrm>
          <a:prstGeom prst="rect">
            <a:avLst/>
          </a:prstGeom>
          <a:noFill/>
          <a:ln/>
        </p:spPr>
        <p:txBody>
          <a:bodyPr wrap="square" rtlCol="0" anchor="ctr"/>
          <a:lstStyle/>
          <a:p>
            <a:pPr marL="0" indent="0" algn="l">
              <a:buNone/>
            </a:pPr>
            <a:r>
              <a:rPr lang="en-US" sz="3600" b="1" dirty="0">
                <a:solidFill>
                  <a:srgbClr val="E94560"/>
                </a:solidFill>
                <a:latin typeface="Calibri" pitchFamily="34" charset="0"/>
                <a:ea typeface="Calibri" pitchFamily="34" charset="-122"/>
                <a:cs typeface="Calibri" pitchFamily="34" charset="-120"/>
              </a:rPr>
              <a:t>Race Winners Using Machine Learning</a:t>
            </a:r>
            <a:endParaRPr lang="en-US" sz="3600" dirty="0"/>
          </a:p>
        </p:txBody>
      </p:sp>
      <p:sp>
        <p:nvSpPr>
          <p:cNvPr id="5" name="Text 3"/>
          <p:cNvSpPr/>
          <p:nvPr/>
        </p:nvSpPr>
        <p:spPr>
          <a:xfrm>
            <a:off x="365760" y="2423160"/>
            <a:ext cx="6400800" cy="411480"/>
          </a:xfrm>
          <a:prstGeom prst="rect">
            <a:avLst/>
          </a:prstGeom>
          <a:noFill/>
          <a:ln/>
        </p:spPr>
        <p:txBody>
          <a:bodyPr wrap="square" rtlCol="0" anchor="ctr"/>
          <a:lstStyle/>
          <a:p>
            <a:pPr marL="0" indent="0" algn="l">
              <a:buNone/>
            </a:pPr>
            <a:r>
              <a:rPr lang="en-US" sz="1800" dirty="0">
                <a:solidFill>
                  <a:srgbClr val="D0D0E0"/>
                </a:solidFill>
                <a:latin typeface="Calibri" pitchFamily="34" charset="0"/>
                <a:ea typeface="Calibri" pitchFamily="34" charset="-122"/>
                <a:cs typeface="Calibri" pitchFamily="34" charset="-120"/>
              </a:rPr>
              <a:t>A Hybrid-Era Analysis · 2014–2024</a:t>
            </a:r>
            <a:endParaRPr lang="en-US" sz="1800" dirty="0"/>
          </a:p>
        </p:txBody>
      </p:sp>
      <p:sp>
        <p:nvSpPr>
          <p:cNvPr id="6" name="Shape 4"/>
          <p:cNvSpPr/>
          <p:nvPr/>
        </p:nvSpPr>
        <p:spPr>
          <a:xfrm>
            <a:off x="365760" y="3108960"/>
            <a:ext cx="4114800" cy="1280160"/>
          </a:xfrm>
          <a:prstGeom prst="rect">
            <a:avLst/>
          </a:prstGeom>
          <a:solidFill>
            <a:srgbClr val="0F3460"/>
          </a:solidFill>
          <a:ln w="12700">
            <a:solidFill>
              <a:srgbClr val="0F3460"/>
            </a:solidFill>
            <a:prstDash val="solid"/>
          </a:ln>
        </p:spPr>
      </p:sp>
      <p:sp>
        <p:nvSpPr>
          <p:cNvPr id="7" name="Text 5"/>
          <p:cNvSpPr/>
          <p:nvPr/>
        </p:nvSpPr>
        <p:spPr>
          <a:xfrm>
            <a:off x="594360" y="3246120"/>
            <a:ext cx="3657600" cy="1005840"/>
          </a:xfrm>
          <a:prstGeom prst="rect">
            <a:avLst/>
          </a:prstGeom>
          <a:noFill/>
          <a:ln/>
        </p:spPr>
        <p:txBody>
          <a:bodyPr wrap="square"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Semiatov Darhan</a:t>
            </a:r>
            <a:endParaRPr lang="en-US" sz="1500" dirty="0"/>
          </a:p>
          <a:p>
            <a:pPr marL="0" indent="0">
              <a:buNone/>
            </a:pPr>
            <a:r>
              <a:rPr lang="en-US" sz="1300" dirty="0">
                <a:solidFill>
                  <a:srgbClr val="A0A0B0"/>
                </a:solidFill>
                <a:latin typeface="Calibri" pitchFamily="34" charset="0"/>
                <a:ea typeface="Calibri" pitchFamily="34" charset="-122"/>
                <a:cs typeface="Calibri" pitchFamily="34" charset="-120"/>
              </a:rPr>
              <a:t>Narxoz University, Kazakhstan</a:t>
            </a:r>
            <a:endParaRPr lang="en-US" sz="1500" dirty="0"/>
          </a:p>
          <a:p>
            <a:pPr marL="0" indent="0">
              <a:buNone/>
            </a:pPr>
            <a:r>
              <a:rPr lang="en-US" sz="1200" dirty="0">
                <a:solidFill>
                  <a:srgbClr val="A0A0B0"/>
                </a:solidFill>
                <a:latin typeface="Calibri" pitchFamily="34" charset="0"/>
                <a:ea typeface="Calibri" pitchFamily="34" charset="-122"/>
                <a:cs typeface="Calibri" pitchFamily="34" charset="-120"/>
              </a:rPr>
              <a:t>Research Methods · </a:t>
            </a:r>
            <a:r>
              <a:rPr lang="en-US" sz="1200" dirty="0" smtClean="0">
                <a:solidFill>
                  <a:srgbClr val="A0A0B0"/>
                </a:solidFill>
                <a:latin typeface="Calibri" pitchFamily="34" charset="0"/>
                <a:ea typeface="Calibri" pitchFamily="34" charset="-122"/>
                <a:cs typeface="Calibri" pitchFamily="34" charset="-120"/>
              </a:rPr>
              <a:t>202</a:t>
            </a:r>
            <a:r>
              <a:rPr lang="ru-RU" sz="1200" dirty="0" smtClean="0">
                <a:solidFill>
                  <a:srgbClr val="A0A0B0"/>
                </a:solidFill>
                <a:latin typeface="Calibri" pitchFamily="34" charset="0"/>
                <a:ea typeface="Calibri" pitchFamily="34" charset="-122"/>
                <a:cs typeface="Calibri" pitchFamily="34" charset="-120"/>
              </a:rPr>
              <a:t>6</a:t>
            </a:r>
            <a:endParaRPr lang="en-US" sz="1500" dirty="0"/>
          </a:p>
        </p:txBody>
      </p:sp>
      <p:sp>
        <p:nvSpPr>
          <p:cNvPr id="8" name="Shape 6"/>
          <p:cNvSpPr/>
          <p:nvPr/>
        </p:nvSpPr>
        <p:spPr>
          <a:xfrm>
            <a:off x="4754880" y="3063240"/>
            <a:ext cx="960120" cy="1371600"/>
          </a:xfrm>
          <a:prstGeom prst="rect">
            <a:avLst/>
          </a:prstGeom>
          <a:solidFill>
            <a:srgbClr val="16213E"/>
          </a:solidFill>
          <a:ln w="12700">
            <a:solidFill>
              <a:srgbClr val="E94560"/>
            </a:solidFill>
            <a:prstDash val="solid"/>
          </a:ln>
        </p:spPr>
      </p:sp>
      <p:sp>
        <p:nvSpPr>
          <p:cNvPr id="9" name="Text 7"/>
          <p:cNvSpPr/>
          <p:nvPr/>
        </p:nvSpPr>
        <p:spPr>
          <a:xfrm>
            <a:off x="4754880" y="3154680"/>
            <a:ext cx="960120" cy="594360"/>
          </a:xfrm>
          <a:prstGeom prst="rect">
            <a:avLst/>
          </a:prstGeom>
          <a:noFill/>
          <a:ln/>
        </p:spPr>
        <p:txBody>
          <a:bodyPr wrap="square" rtlCol="0" anchor="ctr"/>
          <a:lstStyle/>
          <a:p>
            <a:pPr marL="0" indent="0" algn="ctr">
              <a:buNone/>
            </a:pPr>
            <a:r>
              <a:rPr lang="en-US" sz="2000" b="1" dirty="0">
                <a:solidFill>
                  <a:srgbClr val="E94560"/>
                </a:solidFill>
                <a:latin typeface="Calibri" pitchFamily="34" charset="0"/>
                <a:ea typeface="Calibri" pitchFamily="34" charset="-122"/>
                <a:cs typeface="Calibri" pitchFamily="34" charset="-120"/>
              </a:rPr>
              <a:t>4,623</a:t>
            </a:r>
            <a:endParaRPr lang="en-US" sz="2000" dirty="0"/>
          </a:p>
        </p:txBody>
      </p:sp>
      <p:sp>
        <p:nvSpPr>
          <p:cNvPr id="10" name="Text 8"/>
          <p:cNvSpPr/>
          <p:nvPr/>
        </p:nvSpPr>
        <p:spPr>
          <a:xfrm>
            <a:off x="4754880" y="3749040"/>
            <a:ext cx="960120" cy="59436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Race entries</a:t>
            </a:r>
            <a:endParaRPr lang="en-US" sz="900" dirty="0"/>
          </a:p>
        </p:txBody>
      </p:sp>
      <p:sp>
        <p:nvSpPr>
          <p:cNvPr id="11" name="Shape 9"/>
          <p:cNvSpPr/>
          <p:nvPr/>
        </p:nvSpPr>
        <p:spPr>
          <a:xfrm>
            <a:off x="5852160" y="3063240"/>
            <a:ext cx="960120" cy="1371600"/>
          </a:xfrm>
          <a:prstGeom prst="rect">
            <a:avLst/>
          </a:prstGeom>
          <a:solidFill>
            <a:srgbClr val="16213E"/>
          </a:solidFill>
          <a:ln w="12700">
            <a:solidFill>
              <a:srgbClr val="E94560"/>
            </a:solidFill>
            <a:prstDash val="solid"/>
          </a:ln>
        </p:spPr>
      </p:sp>
      <p:sp>
        <p:nvSpPr>
          <p:cNvPr id="12" name="Text 10"/>
          <p:cNvSpPr/>
          <p:nvPr/>
        </p:nvSpPr>
        <p:spPr>
          <a:xfrm>
            <a:off x="5852160" y="3154680"/>
            <a:ext cx="960120" cy="594360"/>
          </a:xfrm>
          <a:prstGeom prst="rect">
            <a:avLst/>
          </a:prstGeom>
          <a:noFill/>
          <a:ln/>
        </p:spPr>
        <p:txBody>
          <a:bodyPr wrap="square" rtlCol="0" anchor="ctr"/>
          <a:lstStyle/>
          <a:p>
            <a:pPr marL="0" indent="0" algn="ctr">
              <a:buNone/>
            </a:pPr>
            <a:r>
              <a:rPr lang="en-US" sz="2000" b="1" dirty="0">
                <a:solidFill>
                  <a:srgbClr val="E94560"/>
                </a:solidFill>
                <a:latin typeface="Calibri" pitchFamily="34" charset="0"/>
                <a:ea typeface="Calibri" pitchFamily="34" charset="-122"/>
                <a:cs typeface="Calibri" pitchFamily="34" charset="-120"/>
              </a:rPr>
              <a:t>11</a:t>
            </a:r>
            <a:endParaRPr lang="en-US" sz="2000" dirty="0"/>
          </a:p>
        </p:txBody>
      </p:sp>
      <p:sp>
        <p:nvSpPr>
          <p:cNvPr id="13" name="Text 11"/>
          <p:cNvSpPr/>
          <p:nvPr/>
        </p:nvSpPr>
        <p:spPr>
          <a:xfrm>
            <a:off x="5852160" y="3749040"/>
            <a:ext cx="960120" cy="59436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Seasons</a:t>
            </a:r>
            <a:endParaRPr lang="en-US" sz="900" dirty="0"/>
          </a:p>
        </p:txBody>
      </p:sp>
      <p:sp>
        <p:nvSpPr>
          <p:cNvPr id="14" name="Shape 12"/>
          <p:cNvSpPr/>
          <p:nvPr/>
        </p:nvSpPr>
        <p:spPr>
          <a:xfrm>
            <a:off x="6949440" y="3063240"/>
            <a:ext cx="960120" cy="1371600"/>
          </a:xfrm>
          <a:prstGeom prst="rect">
            <a:avLst/>
          </a:prstGeom>
          <a:solidFill>
            <a:srgbClr val="16213E"/>
          </a:solidFill>
          <a:ln w="12700">
            <a:solidFill>
              <a:srgbClr val="E94560"/>
            </a:solidFill>
            <a:prstDash val="solid"/>
          </a:ln>
        </p:spPr>
      </p:sp>
      <p:sp>
        <p:nvSpPr>
          <p:cNvPr id="15" name="Text 13"/>
          <p:cNvSpPr/>
          <p:nvPr/>
        </p:nvSpPr>
        <p:spPr>
          <a:xfrm>
            <a:off x="6949440" y="3154680"/>
            <a:ext cx="960120" cy="594360"/>
          </a:xfrm>
          <a:prstGeom prst="rect">
            <a:avLst/>
          </a:prstGeom>
          <a:noFill/>
          <a:ln/>
        </p:spPr>
        <p:txBody>
          <a:bodyPr wrap="square" rtlCol="0" anchor="ctr"/>
          <a:lstStyle/>
          <a:p>
            <a:pPr marL="0" indent="0" algn="ctr">
              <a:buNone/>
            </a:pPr>
            <a:r>
              <a:rPr lang="en-US" sz="2000" b="1" dirty="0">
                <a:solidFill>
                  <a:srgbClr val="E94560"/>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6949440" y="3749040"/>
            <a:ext cx="960120" cy="59436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ML models</a:t>
            </a:r>
            <a:endParaRPr lang="en-US" sz="900" dirty="0"/>
          </a:p>
        </p:txBody>
      </p:sp>
      <p:sp>
        <p:nvSpPr>
          <p:cNvPr id="17" name="Shape 15"/>
          <p:cNvSpPr/>
          <p:nvPr/>
        </p:nvSpPr>
        <p:spPr>
          <a:xfrm>
            <a:off x="8046720" y="3063240"/>
            <a:ext cx="960120" cy="1371600"/>
          </a:xfrm>
          <a:prstGeom prst="rect">
            <a:avLst/>
          </a:prstGeom>
          <a:solidFill>
            <a:srgbClr val="16213E"/>
          </a:solidFill>
          <a:ln w="12700">
            <a:solidFill>
              <a:srgbClr val="E94560"/>
            </a:solidFill>
            <a:prstDash val="solid"/>
          </a:ln>
        </p:spPr>
      </p:sp>
      <p:sp>
        <p:nvSpPr>
          <p:cNvPr id="18" name="Text 16"/>
          <p:cNvSpPr/>
          <p:nvPr/>
        </p:nvSpPr>
        <p:spPr>
          <a:xfrm>
            <a:off x="8046720" y="3154680"/>
            <a:ext cx="960120" cy="594360"/>
          </a:xfrm>
          <a:prstGeom prst="rect">
            <a:avLst/>
          </a:prstGeom>
          <a:noFill/>
          <a:ln/>
        </p:spPr>
        <p:txBody>
          <a:bodyPr wrap="square" rtlCol="0" anchor="ctr"/>
          <a:lstStyle/>
          <a:p>
            <a:pPr marL="0" indent="0" algn="ctr">
              <a:buNone/>
            </a:pPr>
            <a:r>
              <a:rPr lang="en-US" sz="2000" b="1" dirty="0">
                <a:solidFill>
                  <a:srgbClr val="E94560"/>
                </a:solidFill>
                <a:latin typeface="Calibri" pitchFamily="34" charset="0"/>
                <a:ea typeface="Calibri" pitchFamily="34" charset="-122"/>
                <a:cs typeface="Calibri" pitchFamily="34" charset="-120"/>
              </a:rPr>
              <a:t>10/24</a:t>
            </a:r>
            <a:endParaRPr lang="en-US" sz="2000" dirty="0"/>
          </a:p>
        </p:txBody>
      </p:sp>
      <p:sp>
        <p:nvSpPr>
          <p:cNvPr id="19" name="Text 17"/>
          <p:cNvSpPr/>
          <p:nvPr/>
        </p:nvSpPr>
        <p:spPr>
          <a:xfrm>
            <a:off x="8046720" y="3749040"/>
            <a:ext cx="960120" cy="59436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Races predicted</a:t>
            </a:r>
            <a:endParaRPr lang="en-US" sz="900" dirty="0"/>
          </a:p>
        </p:txBody>
      </p:sp>
      <p:sp>
        <p:nvSpPr>
          <p:cNvPr id="20" name="Text 18"/>
          <p:cNvSpPr/>
          <p:nvPr/>
        </p:nvSpPr>
        <p:spPr>
          <a:xfrm>
            <a:off x="365760" y="4709160"/>
            <a:ext cx="8412480" cy="274320"/>
          </a:xfrm>
          <a:prstGeom prst="rect">
            <a:avLst/>
          </a:prstGeom>
          <a:noFill/>
          <a:ln/>
        </p:spPr>
        <p:txBody>
          <a:bodyPr wrap="square" rtlCol="0" anchor="ctr"/>
          <a:lstStyle/>
          <a:p>
            <a:pPr marL="0" indent="0" algn="l">
              <a:buNone/>
            </a:pPr>
            <a:r>
              <a:rPr lang="en-US" sz="1000" i="1" dirty="0">
                <a:solidFill>
                  <a:srgbClr val="A0A0B0"/>
                </a:solidFill>
                <a:latin typeface="Calibri" pitchFamily="34" charset="0"/>
                <a:ea typeface="Calibri" pitchFamily="34" charset="-122"/>
                <a:cs typeface="Calibri" pitchFamily="34" charset="-120"/>
              </a:rPr>
              <a:t>Logistic Regression · Random Forest · XGBoost · LightGBM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Shape 1"/>
          <p:cNvSpPr/>
          <p:nvPr/>
        </p:nvSpPr>
        <p:spPr>
          <a:xfrm>
            <a:off x="0" y="0"/>
            <a:ext cx="164592" cy="640080"/>
          </a:xfrm>
          <a:prstGeom prst="rect">
            <a:avLst/>
          </a:prstGeom>
          <a:solidFill>
            <a:srgbClr val="CC0000"/>
          </a:solidFill>
          <a:ln w="12700">
            <a:solidFill>
              <a:srgbClr val="CC0000"/>
            </a:solidFill>
            <a:prstDash val="solid"/>
          </a:ln>
        </p:spPr>
      </p:sp>
      <p:sp>
        <p:nvSpPr>
          <p:cNvPr id="4" name="Text 2"/>
          <p:cNvSpPr/>
          <p:nvPr/>
        </p:nvSpPr>
        <p:spPr>
          <a:xfrm>
            <a:off x="320040" y="91440"/>
            <a:ext cx="841248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Research Overview</a:t>
            </a:r>
            <a:endParaRPr lang="en-US" sz="2200" dirty="0"/>
          </a:p>
        </p:txBody>
      </p:sp>
      <p:sp>
        <p:nvSpPr>
          <p:cNvPr id="5" name="Shape 3"/>
          <p:cNvSpPr/>
          <p:nvPr/>
        </p:nvSpPr>
        <p:spPr>
          <a:xfrm>
            <a:off x="365760" y="777240"/>
            <a:ext cx="8412480" cy="731520"/>
          </a:xfrm>
          <a:prstGeom prst="rect">
            <a:avLst/>
          </a:prstGeom>
          <a:solidFill>
            <a:srgbClr val="FFF3CD"/>
          </a:solidFill>
          <a:ln w="12700">
            <a:solidFill>
              <a:srgbClr val="F1C40F"/>
            </a:solidFill>
            <a:prstDash val="solid"/>
          </a:ln>
        </p:spPr>
      </p:sp>
      <p:sp>
        <p:nvSpPr>
          <p:cNvPr id="6" name="Text 4"/>
          <p:cNvSpPr/>
          <p:nvPr/>
        </p:nvSpPr>
        <p:spPr>
          <a:xfrm>
            <a:off x="548640" y="868680"/>
            <a:ext cx="8046720" cy="548640"/>
          </a:xfrm>
          <a:prstGeom prst="rect">
            <a:avLst/>
          </a:prstGeom>
          <a:noFill/>
          <a:ln/>
        </p:spPr>
        <p:txBody>
          <a:bodyPr wrap="square" rtlCol="0" anchor="ctr"/>
          <a:lstStyle/>
          <a:p>
            <a:pPr marL="0" indent="0">
              <a:buNone/>
            </a:pPr>
            <a:r>
              <a:rPr lang="en-US" sz="1400" b="1" dirty="0">
                <a:solidFill>
                  <a:srgbClr val="7D5A00"/>
                </a:solidFill>
                <a:latin typeface="Calibri" pitchFamily="34" charset="0"/>
                <a:ea typeface="Calibri" pitchFamily="34" charset="-122"/>
                <a:cs typeface="Calibri" pitchFamily="34" charset="-120"/>
              </a:rPr>
              <a:t>Research Question: </a:t>
            </a:r>
            <a:r>
              <a:rPr lang="en-US" sz="1300" dirty="0">
                <a:solidFill>
                  <a:srgbClr val="5C4100"/>
                </a:solidFill>
                <a:latin typeface="Calibri" pitchFamily="34" charset="0"/>
                <a:ea typeface="Calibri" pitchFamily="34" charset="-122"/>
                <a:cs typeface="Calibri" pitchFamily="34" charset="-120"/>
              </a:rPr>
              <a:t>How accurately can machine learning models predict the winner of a Formula 1 race using pre-race and historical performance data?</a:t>
            </a:r>
            <a:endParaRPr lang="en-US" sz="1400" dirty="0"/>
          </a:p>
        </p:txBody>
      </p:sp>
      <p:sp>
        <p:nvSpPr>
          <p:cNvPr id="7" name="Text 5"/>
          <p:cNvSpPr/>
          <p:nvPr/>
        </p:nvSpPr>
        <p:spPr>
          <a:xfrm>
            <a:off x="365760" y="1664208"/>
            <a:ext cx="393192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The Challenge</a:t>
            </a:r>
            <a:endParaRPr lang="en-US" sz="1500" dirty="0"/>
          </a:p>
        </p:txBody>
      </p:sp>
      <p:sp>
        <p:nvSpPr>
          <p:cNvPr id="8" name="Shape 6"/>
          <p:cNvSpPr/>
          <p:nvPr/>
        </p:nvSpPr>
        <p:spPr>
          <a:xfrm>
            <a:off x="365760" y="2084832"/>
            <a:ext cx="201168" cy="201168"/>
          </a:xfrm>
          <a:prstGeom prst="ellipse">
            <a:avLst/>
          </a:prstGeom>
          <a:solidFill>
            <a:srgbClr val="CC0000"/>
          </a:solidFill>
          <a:ln w="12700">
            <a:solidFill>
              <a:srgbClr val="CC0000"/>
            </a:solidFill>
            <a:prstDash val="solid"/>
          </a:ln>
        </p:spPr>
      </p:sp>
      <p:sp>
        <p:nvSpPr>
          <p:cNvPr id="9" name="Text 7"/>
          <p:cNvSpPr/>
          <p:nvPr/>
        </p:nvSpPr>
        <p:spPr>
          <a:xfrm>
            <a:off x="658368" y="2039112"/>
            <a:ext cx="3474720" cy="32004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Only 1 driver wins per race (≈5% of entries)</a:t>
            </a:r>
            <a:endParaRPr lang="en-US" sz="1200" dirty="0"/>
          </a:p>
        </p:txBody>
      </p:sp>
      <p:sp>
        <p:nvSpPr>
          <p:cNvPr id="10" name="Shape 8"/>
          <p:cNvSpPr/>
          <p:nvPr/>
        </p:nvSpPr>
        <p:spPr>
          <a:xfrm>
            <a:off x="365760" y="2679192"/>
            <a:ext cx="201168" cy="201168"/>
          </a:xfrm>
          <a:prstGeom prst="ellipse">
            <a:avLst/>
          </a:prstGeom>
          <a:solidFill>
            <a:srgbClr val="CC0000"/>
          </a:solidFill>
          <a:ln w="12700">
            <a:solidFill>
              <a:srgbClr val="CC0000"/>
            </a:solidFill>
            <a:prstDash val="solid"/>
          </a:ln>
        </p:spPr>
      </p:sp>
      <p:sp>
        <p:nvSpPr>
          <p:cNvPr id="11" name="Text 9"/>
          <p:cNvSpPr/>
          <p:nvPr/>
        </p:nvSpPr>
        <p:spPr>
          <a:xfrm>
            <a:off x="658368" y="2633472"/>
            <a:ext cx="3474720" cy="32004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Severe class imbalance — most ML models fail</a:t>
            </a:r>
            <a:endParaRPr lang="en-US" sz="1200" dirty="0"/>
          </a:p>
        </p:txBody>
      </p:sp>
      <p:sp>
        <p:nvSpPr>
          <p:cNvPr id="12" name="Shape 10"/>
          <p:cNvSpPr/>
          <p:nvPr/>
        </p:nvSpPr>
        <p:spPr>
          <a:xfrm>
            <a:off x="365760" y="3273552"/>
            <a:ext cx="201168" cy="201168"/>
          </a:xfrm>
          <a:prstGeom prst="ellipse">
            <a:avLst/>
          </a:prstGeom>
          <a:solidFill>
            <a:srgbClr val="CC0000"/>
          </a:solidFill>
          <a:ln w="12700">
            <a:solidFill>
              <a:srgbClr val="CC0000"/>
            </a:solidFill>
            <a:prstDash val="solid"/>
          </a:ln>
        </p:spPr>
      </p:sp>
      <p:sp>
        <p:nvSpPr>
          <p:cNvPr id="13" name="Text 11"/>
          <p:cNvSpPr/>
          <p:nvPr/>
        </p:nvSpPr>
        <p:spPr>
          <a:xfrm>
            <a:off x="658368" y="3227832"/>
            <a:ext cx="3474720" cy="32004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Row-level accuracy misleads: 95% by predicting 'no win'</a:t>
            </a:r>
            <a:endParaRPr lang="en-US" sz="1200" dirty="0"/>
          </a:p>
        </p:txBody>
      </p:sp>
      <p:sp>
        <p:nvSpPr>
          <p:cNvPr id="14" name="Shape 12"/>
          <p:cNvSpPr/>
          <p:nvPr/>
        </p:nvSpPr>
        <p:spPr>
          <a:xfrm>
            <a:off x="365760" y="3867912"/>
            <a:ext cx="201168" cy="201168"/>
          </a:xfrm>
          <a:prstGeom prst="ellipse">
            <a:avLst/>
          </a:prstGeom>
          <a:solidFill>
            <a:srgbClr val="CC0000"/>
          </a:solidFill>
          <a:ln w="12700">
            <a:solidFill>
              <a:srgbClr val="CC0000"/>
            </a:solidFill>
            <a:prstDash val="solid"/>
          </a:ln>
        </p:spPr>
      </p:sp>
      <p:sp>
        <p:nvSpPr>
          <p:cNvPr id="15" name="Text 13"/>
          <p:cNvSpPr/>
          <p:nvPr/>
        </p:nvSpPr>
        <p:spPr>
          <a:xfrm>
            <a:off x="658368" y="3822192"/>
            <a:ext cx="3474720" cy="32004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Prior work ignores race-level winner prediction</a:t>
            </a:r>
            <a:endParaRPr lang="en-US" sz="1200" dirty="0"/>
          </a:p>
        </p:txBody>
      </p:sp>
      <p:sp>
        <p:nvSpPr>
          <p:cNvPr id="16" name="Text 14"/>
          <p:cNvSpPr/>
          <p:nvPr/>
        </p:nvSpPr>
        <p:spPr>
          <a:xfrm>
            <a:off x="4572000" y="1664208"/>
            <a:ext cx="4206240" cy="347472"/>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Hypotheses</a:t>
            </a:r>
            <a:endParaRPr lang="en-US" sz="1500" dirty="0"/>
          </a:p>
        </p:txBody>
      </p:sp>
      <p:sp>
        <p:nvSpPr>
          <p:cNvPr id="17" name="Shape 15"/>
          <p:cNvSpPr/>
          <p:nvPr/>
        </p:nvSpPr>
        <p:spPr>
          <a:xfrm>
            <a:off x="4572000" y="2057400"/>
            <a:ext cx="475488" cy="347472"/>
          </a:xfrm>
          <a:prstGeom prst="rect">
            <a:avLst/>
          </a:prstGeom>
          <a:solidFill>
            <a:srgbClr val="E94560"/>
          </a:solidFill>
          <a:ln w="12700">
            <a:solidFill>
              <a:srgbClr val="E94560"/>
            </a:solidFill>
            <a:prstDash val="solid"/>
          </a:ln>
        </p:spPr>
      </p:sp>
      <p:sp>
        <p:nvSpPr>
          <p:cNvPr id="18" name="Text 16"/>
          <p:cNvSpPr/>
          <p:nvPr/>
        </p:nvSpPr>
        <p:spPr>
          <a:xfrm>
            <a:off x="4572000" y="2057400"/>
            <a:ext cx="475488"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9" name="Shape 17"/>
          <p:cNvSpPr/>
          <p:nvPr/>
        </p:nvSpPr>
        <p:spPr>
          <a:xfrm>
            <a:off x="5074920" y="2057400"/>
            <a:ext cx="3657600" cy="347472"/>
          </a:xfrm>
          <a:prstGeom prst="rect">
            <a:avLst/>
          </a:prstGeom>
          <a:solidFill>
            <a:srgbClr val="EDEEF5"/>
          </a:solidFill>
          <a:ln w="12700">
            <a:solidFill>
              <a:srgbClr val="CCCCDD"/>
            </a:solidFill>
            <a:prstDash val="solid"/>
          </a:ln>
        </p:spPr>
      </p:sp>
      <p:sp>
        <p:nvSpPr>
          <p:cNvPr id="20" name="Text 18"/>
          <p:cNvSpPr/>
          <p:nvPr/>
        </p:nvSpPr>
        <p:spPr>
          <a:xfrm>
            <a:off x="5166360" y="2057400"/>
            <a:ext cx="347472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ML models significantly outperform a random baseline</a:t>
            </a:r>
            <a:endParaRPr lang="en-US" sz="1200" dirty="0"/>
          </a:p>
        </p:txBody>
      </p:sp>
      <p:sp>
        <p:nvSpPr>
          <p:cNvPr id="21" name="Shape 19"/>
          <p:cNvSpPr/>
          <p:nvPr/>
        </p:nvSpPr>
        <p:spPr>
          <a:xfrm>
            <a:off x="4572000" y="2880360"/>
            <a:ext cx="475488" cy="347472"/>
          </a:xfrm>
          <a:prstGeom prst="rect">
            <a:avLst/>
          </a:prstGeom>
          <a:solidFill>
            <a:srgbClr val="E94560"/>
          </a:solidFill>
          <a:ln w="12700">
            <a:solidFill>
              <a:srgbClr val="E94560"/>
            </a:solidFill>
            <a:prstDash val="solid"/>
          </a:ln>
        </p:spPr>
      </p:sp>
      <p:sp>
        <p:nvSpPr>
          <p:cNvPr id="22" name="Text 20"/>
          <p:cNvSpPr/>
          <p:nvPr/>
        </p:nvSpPr>
        <p:spPr>
          <a:xfrm>
            <a:off x="4572000" y="2880360"/>
            <a:ext cx="475488"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23" name="Shape 21"/>
          <p:cNvSpPr/>
          <p:nvPr/>
        </p:nvSpPr>
        <p:spPr>
          <a:xfrm>
            <a:off x="5074920" y="2880360"/>
            <a:ext cx="3657600" cy="347472"/>
          </a:xfrm>
          <a:prstGeom prst="rect">
            <a:avLst/>
          </a:prstGeom>
          <a:solidFill>
            <a:srgbClr val="EDEEF5"/>
          </a:solidFill>
          <a:ln w="12700">
            <a:solidFill>
              <a:srgbClr val="CCCCDD"/>
            </a:solidFill>
            <a:prstDash val="solid"/>
          </a:ln>
        </p:spPr>
      </p:sp>
      <p:sp>
        <p:nvSpPr>
          <p:cNvPr id="24" name="Text 22"/>
          <p:cNvSpPr/>
          <p:nvPr/>
        </p:nvSpPr>
        <p:spPr>
          <a:xfrm>
            <a:off x="5166360" y="2880360"/>
            <a:ext cx="347472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Adding constructor features substantially improves F1-score</a:t>
            </a:r>
            <a:endParaRPr lang="en-US" sz="1200" dirty="0"/>
          </a:p>
        </p:txBody>
      </p:sp>
      <p:sp>
        <p:nvSpPr>
          <p:cNvPr id="25" name="Shape 23"/>
          <p:cNvSpPr/>
          <p:nvPr/>
        </p:nvSpPr>
        <p:spPr>
          <a:xfrm>
            <a:off x="4572000" y="3703320"/>
            <a:ext cx="475488" cy="347472"/>
          </a:xfrm>
          <a:prstGeom prst="rect">
            <a:avLst/>
          </a:prstGeom>
          <a:solidFill>
            <a:srgbClr val="E94560"/>
          </a:solidFill>
          <a:ln w="12700">
            <a:solidFill>
              <a:srgbClr val="E94560"/>
            </a:solidFill>
            <a:prstDash val="solid"/>
          </a:ln>
        </p:spPr>
      </p:sp>
      <p:sp>
        <p:nvSpPr>
          <p:cNvPr id="26" name="Text 24"/>
          <p:cNvSpPr/>
          <p:nvPr/>
        </p:nvSpPr>
        <p:spPr>
          <a:xfrm>
            <a:off x="4572000" y="3703320"/>
            <a:ext cx="475488"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7" name="Shape 25"/>
          <p:cNvSpPr/>
          <p:nvPr/>
        </p:nvSpPr>
        <p:spPr>
          <a:xfrm>
            <a:off x="5074920" y="3703320"/>
            <a:ext cx="3657600" cy="347472"/>
          </a:xfrm>
          <a:prstGeom prst="rect">
            <a:avLst/>
          </a:prstGeom>
          <a:solidFill>
            <a:srgbClr val="EDEEF5"/>
          </a:solidFill>
          <a:ln w="12700">
            <a:solidFill>
              <a:srgbClr val="CCCCDD"/>
            </a:solidFill>
            <a:prstDash val="solid"/>
          </a:ln>
        </p:spPr>
      </p:sp>
      <p:sp>
        <p:nvSpPr>
          <p:cNvPr id="28" name="Text 26"/>
          <p:cNvSpPr/>
          <p:nvPr/>
        </p:nvSpPr>
        <p:spPr>
          <a:xfrm>
            <a:off x="5166360" y="3703320"/>
            <a:ext cx="347472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Tree-based ensembles outperform Logistic Regression</a:t>
            </a:r>
            <a:endParaRPr lang="en-US" sz="1200" dirty="0"/>
          </a:p>
        </p:txBody>
      </p:sp>
      <p:sp>
        <p:nvSpPr>
          <p:cNvPr id="29" name="Shape 27"/>
          <p:cNvSpPr/>
          <p:nvPr/>
        </p:nvSpPr>
        <p:spPr>
          <a:xfrm>
            <a:off x="4434840" y="1600200"/>
            <a:ext cx="0" cy="3017520"/>
          </a:xfrm>
          <a:prstGeom prst="line">
            <a:avLst/>
          </a:prstGeom>
          <a:noFill/>
          <a:ln w="12700">
            <a:solidFill>
              <a:srgbClr val="CCCCDD"/>
            </a:solidFill>
            <a:prstDash val="solid"/>
          </a:ln>
        </p:spPr>
      </p:sp>
      <p:sp>
        <p:nvSpPr>
          <p:cNvPr id="30" name="Text 28"/>
          <p:cNvSpPr/>
          <p:nvPr/>
        </p:nvSpPr>
        <p:spPr>
          <a:xfrm>
            <a:off x="8778240" y="4846320"/>
            <a:ext cx="274320" cy="182880"/>
          </a:xfrm>
          <a:prstGeom prst="rect">
            <a:avLst/>
          </a:prstGeom>
          <a:noFill/>
          <a:ln/>
        </p:spPr>
        <p:txBody>
          <a:bodyPr wrap="square" rtlCol="0" anchor="ctr"/>
          <a:lstStyle/>
          <a:p>
            <a:pPr marL="0" indent="0" algn="ctr">
              <a:buNone/>
            </a:pPr>
            <a:r>
              <a:rPr lang="en-US" sz="1000" dirty="0">
                <a:solidFill>
                  <a:srgbClr val="A0A0B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6213E"/>
          </a:solidFill>
          <a:ln w="12700">
            <a:solidFill>
              <a:srgbClr val="16213E"/>
            </a:solidFill>
            <a:prstDash val="solid"/>
          </a:ln>
        </p:spPr>
      </p:sp>
      <p:sp>
        <p:nvSpPr>
          <p:cNvPr id="3" name="Shape 1"/>
          <p:cNvSpPr/>
          <p:nvPr/>
        </p:nvSpPr>
        <p:spPr>
          <a:xfrm>
            <a:off x="0" y="0"/>
            <a:ext cx="164592" cy="640080"/>
          </a:xfrm>
          <a:prstGeom prst="rect">
            <a:avLst/>
          </a:prstGeom>
          <a:solidFill>
            <a:srgbClr val="CC0000"/>
          </a:solidFill>
          <a:ln w="12700">
            <a:solidFill>
              <a:srgbClr val="CC0000"/>
            </a:solidFill>
            <a:prstDash val="solid"/>
          </a:ln>
        </p:spPr>
      </p:sp>
      <p:sp>
        <p:nvSpPr>
          <p:cNvPr id="4" name="Text 2"/>
          <p:cNvSpPr/>
          <p:nvPr/>
        </p:nvSpPr>
        <p:spPr>
          <a:xfrm>
            <a:off x="320040" y="91440"/>
            <a:ext cx="841248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&amp; Methodology</a:t>
            </a:r>
            <a:endParaRPr lang="en-US" sz="2200" dirty="0"/>
          </a:p>
        </p:txBody>
      </p:sp>
      <p:sp>
        <p:nvSpPr>
          <p:cNvPr id="5" name="Shape 3"/>
          <p:cNvSpPr/>
          <p:nvPr/>
        </p:nvSpPr>
        <p:spPr>
          <a:xfrm>
            <a:off x="320040" y="749808"/>
            <a:ext cx="1965960" cy="1078992"/>
          </a:xfrm>
          <a:prstGeom prst="rect">
            <a:avLst/>
          </a:prstGeom>
          <a:solidFill>
            <a:srgbClr val="0F3460"/>
          </a:solidFill>
          <a:ln w="12700">
            <a:solidFill>
              <a:srgbClr val="2A4F8A"/>
            </a:solidFill>
            <a:prstDash val="solid"/>
          </a:ln>
        </p:spPr>
      </p:sp>
      <p:sp>
        <p:nvSpPr>
          <p:cNvPr id="6" name="Text 4"/>
          <p:cNvSpPr/>
          <p:nvPr/>
        </p:nvSpPr>
        <p:spPr>
          <a:xfrm>
            <a:off x="320040" y="804672"/>
            <a:ext cx="1965960" cy="457200"/>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4,623</a:t>
            </a:r>
            <a:endParaRPr lang="en-US" sz="2600" dirty="0"/>
          </a:p>
        </p:txBody>
      </p:sp>
      <p:sp>
        <p:nvSpPr>
          <p:cNvPr id="7" name="Text 5"/>
          <p:cNvSpPr/>
          <p:nvPr/>
        </p:nvSpPr>
        <p:spPr>
          <a:xfrm>
            <a:off x="320040" y="1261872"/>
            <a:ext cx="1965960" cy="25603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Driver-race entries</a:t>
            </a:r>
            <a:endParaRPr lang="en-US" sz="1100" dirty="0"/>
          </a:p>
        </p:txBody>
      </p:sp>
      <p:sp>
        <p:nvSpPr>
          <p:cNvPr id="8" name="Text 6"/>
          <p:cNvSpPr/>
          <p:nvPr/>
        </p:nvSpPr>
        <p:spPr>
          <a:xfrm>
            <a:off x="320040" y="1508760"/>
            <a:ext cx="1965960" cy="22860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2014–2024</a:t>
            </a:r>
            <a:endParaRPr lang="en-US" sz="900" dirty="0"/>
          </a:p>
        </p:txBody>
      </p:sp>
      <p:sp>
        <p:nvSpPr>
          <p:cNvPr id="9" name="Shape 7"/>
          <p:cNvSpPr/>
          <p:nvPr/>
        </p:nvSpPr>
        <p:spPr>
          <a:xfrm>
            <a:off x="2468880" y="749808"/>
            <a:ext cx="1965960" cy="1078992"/>
          </a:xfrm>
          <a:prstGeom prst="rect">
            <a:avLst/>
          </a:prstGeom>
          <a:solidFill>
            <a:srgbClr val="0F3460"/>
          </a:solidFill>
          <a:ln w="12700">
            <a:solidFill>
              <a:srgbClr val="2A4F8A"/>
            </a:solidFill>
            <a:prstDash val="solid"/>
          </a:ln>
        </p:spPr>
      </p:sp>
      <p:sp>
        <p:nvSpPr>
          <p:cNvPr id="10" name="Text 8"/>
          <p:cNvSpPr/>
          <p:nvPr/>
        </p:nvSpPr>
        <p:spPr>
          <a:xfrm>
            <a:off x="2468880" y="804672"/>
            <a:ext cx="1965960" cy="457200"/>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4.93%</a:t>
            </a:r>
            <a:endParaRPr lang="en-US" sz="2600" dirty="0"/>
          </a:p>
        </p:txBody>
      </p:sp>
      <p:sp>
        <p:nvSpPr>
          <p:cNvPr id="11" name="Text 9"/>
          <p:cNvSpPr/>
          <p:nvPr/>
        </p:nvSpPr>
        <p:spPr>
          <a:xfrm>
            <a:off x="2468880" y="1261872"/>
            <a:ext cx="1965960" cy="25603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Win rate</a:t>
            </a:r>
            <a:endParaRPr lang="en-US" sz="1100" dirty="0"/>
          </a:p>
        </p:txBody>
      </p:sp>
      <p:sp>
        <p:nvSpPr>
          <p:cNvPr id="12" name="Text 10"/>
          <p:cNvSpPr/>
          <p:nvPr/>
        </p:nvSpPr>
        <p:spPr>
          <a:xfrm>
            <a:off x="2468880" y="1508760"/>
            <a:ext cx="1965960" cy="22860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Severe imbalance</a:t>
            </a:r>
            <a:endParaRPr lang="en-US" sz="900" dirty="0"/>
          </a:p>
        </p:txBody>
      </p:sp>
      <p:sp>
        <p:nvSpPr>
          <p:cNvPr id="13" name="Shape 11"/>
          <p:cNvSpPr/>
          <p:nvPr/>
        </p:nvSpPr>
        <p:spPr>
          <a:xfrm>
            <a:off x="4617720" y="749808"/>
            <a:ext cx="1965960" cy="1078992"/>
          </a:xfrm>
          <a:prstGeom prst="rect">
            <a:avLst/>
          </a:prstGeom>
          <a:solidFill>
            <a:srgbClr val="0F3460"/>
          </a:solidFill>
          <a:ln w="12700">
            <a:solidFill>
              <a:srgbClr val="2A4F8A"/>
            </a:solidFill>
            <a:prstDash val="solid"/>
          </a:ln>
        </p:spPr>
      </p:sp>
      <p:sp>
        <p:nvSpPr>
          <p:cNvPr id="14" name="Text 12"/>
          <p:cNvSpPr/>
          <p:nvPr/>
        </p:nvSpPr>
        <p:spPr>
          <a:xfrm>
            <a:off x="4617720" y="804672"/>
            <a:ext cx="1965960" cy="457200"/>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9</a:t>
            </a:r>
            <a:endParaRPr lang="en-US" sz="2600" dirty="0"/>
          </a:p>
        </p:txBody>
      </p:sp>
      <p:sp>
        <p:nvSpPr>
          <p:cNvPr id="15" name="Text 13"/>
          <p:cNvSpPr/>
          <p:nvPr/>
        </p:nvSpPr>
        <p:spPr>
          <a:xfrm>
            <a:off x="4617720" y="1261872"/>
            <a:ext cx="1965960" cy="25603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Features used</a:t>
            </a:r>
            <a:endParaRPr lang="en-US" sz="1100" dirty="0"/>
          </a:p>
        </p:txBody>
      </p:sp>
      <p:sp>
        <p:nvSpPr>
          <p:cNvPr id="16" name="Text 14"/>
          <p:cNvSpPr/>
          <p:nvPr/>
        </p:nvSpPr>
        <p:spPr>
          <a:xfrm>
            <a:off x="4617720" y="1508760"/>
            <a:ext cx="1965960" cy="22860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7 original + 2 derived</a:t>
            </a:r>
            <a:endParaRPr lang="en-US" sz="900" dirty="0"/>
          </a:p>
        </p:txBody>
      </p:sp>
      <p:sp>
        <p:nvSpPr>
          <p:cNvPr id="17" name="Shape 15"/>
          <p:cNvSpPr/>
          <p:nvPr/>
        </p:nvSpPr>
        <p:spPr>
          <a:xfrm>
            <a:off x="6766560" y="749808"/>
            <a:ext cx="1965960" cy="1078992"/>
          </a:xfrm>
          <a:prstGeom prst="rect">
            <a:avLst/>
          </a:prstGeom>
          <a:solidFill>
            <a:srgbClr val="0F3460"/>
          </a:solidFill>
          <a:ln w="12700">
            <a:solidFill>
              <a:srgbClr val="2A4F8A"/>
            </a:solidFill>
            <a:prstDash val="solid"/>
          </a:ln>
        </p:spPr>
      </p:sp>
      <p:sp>
        <p:nvSpPr>
          <p:cNvPr id="18" name="Text 16"/>
          <p:cNvSpPr/>
          <p:nvPr/>
        </p:nvSpPr>
        <p:spPr>
          <a:xfrm>
            <a:off x="6766560" y="804672"/>
            <a:ext cx="1965960" cy="457200"/>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80/20</a:t>
            </a:r>
            <a:endParaRPr lang="en-US" sz="2600" dirty="0"/>
          </a:p>
        </p:txBody>
      </p:sp>
      <p:sp>
        <p:nvSpPr>
          <p:cNvPr id="19" name="Text 17"/>
          <p:cNvSpPr/>
          <p:nvPr/>
        </p:nvSpPr>
        <p:spPr>
          <a:xfrm>
            <a:off x="6766560" y="1261872"/>
            <a:ext cx="1965960" cy="256032"/>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Train / Test split</a:t>
            </a:r>
            <a:endParaRPr lang="en-US" sz="1100" dirty="0"/>
          </a:p>
        </p:txBody>
      </p:sp>
      <p:sp>
        <p:nvSpPr>
          <p:cNvPr id="20" name="Text 18"/>
          <p:cNvSpPr/>
          <p:nvPr/>
        </p:nvSpPr>
        <p:spPr>
          <a:xfrm>
            <a:off x="6766560" y="1508760"/>
            <a:ext cx="1965960" cy="228600"/>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Temporal: 2014-23 / 2024</a:t>
            </a:r>
            <a:endParaRPr lang="en-US" sz="900" dirty="0"/>
          </a:p>
        </p:txBody>
      </p:sp>
      <p:sp>
        <p:nvSpPr>
          <p:cNvPr id="21" name="Text 19"/>
          <p:cNvSpPr/>
          <p:nvPr/>
        </p:nvSpPr>
        <p:spPr>
          <a:xfrm>
            <a:off x="320040" y="1993392"/>
            <a:ext cx="411480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Features</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2304288"/>
          <a:ext cx="4846320" cy="2340864"/>
        </p:xfrm>
        <a:graphic>
          <a:graphicData uri="http://schemas.openxmlformats.org/drawingml/2006/table">
            <a:tbl>
              <a:tblPr/>
              <a:tblGrid>
                <a:gridCol w="14630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CC000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CC000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CC0000"/>
                    </a:solidFill>
                  </a:tcPr>
                </a:tc>
                <a:extLst>
                  <a:ext uri="{0D108BD9-81ED-4DB2-BD59-A6C34878D82A}">
                    <a16:rowId xmlns:a16="http://schemas.microsoft.com/office/drawing/2014/main" val="10000"/>
                  </a:ext>
                </a:extLst>
              </a:tr>
              <a:tr h="292608">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QualifyingPosition</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Ratio</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Grid position (1–20)</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extLst>
                  <a:ext uri="{0D108BD9-81ED-4DB2-BD59-A6C34878D82A}">
                    <a16:rowId xmlns:a16="http://schemas.microsoft.com/office/drawing/2014/main" val="10001"/>
                  </a:ext>
                </a:extLst>
              </a:tr>
              <a:tr h="292608">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HistoricalWinRate</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Ratio</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Win rate in last 10 races</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extLst>
                  <a:ext uri="{0D108BD9-81ED-4DB2-BD59-A6C34878D82A}">
                    <a16:rowId xmlns:a16="http://schemas.microsoft.com/office/drawing/2014/main" val="10002"/>
                  </a:ext>
                </a:extLst>
              </a:tr>
              <a:tr h="292608">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AvgFinishPosition</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Ratio</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Avg finish, last 10 races</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extLst>
                  <a:ext uri="{0D108BD9-81ED-4DB2-BD59-A6C34878D82A}">
                    <a16:rowId xmlns:a16="http://schemas.microsoft.com/office/drawing/2014/main" val="10003"/>
                  </a:ext>
                </a:extLst>
              </a:tr>
              <a:tr h="292608">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ConstructorWinRate</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Ratio</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Team win rate, last 10 races</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extLst>
                  <a:ext uri="{0D108BD9-81ED-4DB2-BD59-A6C34878D82A}">
                    <a16:rowId xmlns:a16="http://schemas.microsoft.com/office/drawing/2014/main" val="10004"/>
                  </a:ext>
                </a:extLst>
              </a:tr>
              <a:tr h="292608">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PrevSeasonConstrRank</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Ordinal</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Constructor final rank, prev season</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extLst>
                  <a:ext uri="{0D108BD9-81ED-4DB2-BD59-A6C34878D82A}">
                    <a16:rowId xmlns:a16="http://schemas.microsoft.com/office/drawing/2014/main" val="10005"/>
                  </a:ext>
                </a:extLst>
              </a:tr>
              <a:tr h="292608">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CircuitType</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Nominal</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Street circuit / Permanent track</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extLst>
                  <a:ext uri="{0D108BD9-81ED-4DB2-BD59-A6C34878D82A}">
                    <a16:rowId xmlns:a16="http://schemas.microsoft.com/office/drawing/2014/main" val="10006"/>
                  </a:ext>
                </a:extLst>
              </a:tr>
              <a:tr h="292608">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Weather</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Nominal</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tc>
                  <a:txBody>
                    <a:bodyPr/>
                    <a:lstStyle/>
                    <a:p>
                      <a:pPr marL="0" indent="0">
                        <a:buNone/>
                      </a:pPr>
                      <a:r>
                        <a:rPr lang="en-US" sz="1000" dirty="0">
                          <a:solidFill>
                            <a:srgbClr val="D0D0E0"/>
                          </a:solidFill>
                          <a:latin typeface="Calibri" pitchFamily="34" charset="0"/>
                          <a:ea typeface="Calibri" pitchFamily="34" charset="-122"/>
                          <a:cs typeface="Calibri" pitchFamily="34" charset="-120"/>
                        </a:rPr>
                        <a:t>Dry / Wet</a:t>
                      </a:r>
                      <a:endParaRPr lang="en-US" sz="1000" dirty="0">
                        <a:latin typeface="Calibri" charset="0"/>
                        <a:ea typeface="Calibri" charset="0"/>
                        <a:cs typeface="Calibri" charset="0"/>
                      </a:endParaRPr>
                    </a:p>
                  </a:txBody>
                  <a:tcPr anchor="ctr">
                    <a:lnL w="6350" cap="flat" cmpd="sng" algn="ctr">
                      <a:solidFill>
                        <a:srgbClr val="2A4F8A"/>
                      </a:solidFill>
                      <a:prstDash val="solid"/>
                      <a:round/>
                      <a:headEnd type="none" w="med" len="med"/>
                      <a:tailEnd type="none" w="med" len="med"/>
                    </a:lnL>
                    <a:lnR w="6350" cap="flat" cmpd="sng" algn="ctr">
                      <a:solidFill>
                        <a:srgbClr val="2A4F8A"/>
                      </a:solidFill>
                      <a:prstDash val="solid"/>
                      <a:round/>
                      <a:headEnd type="none" w="med" len="med"/>
                      <a:tailEnd type="none" w="med" len="med"/>
                    </a:lnR>
                    <a:lnT w="6350" cap="flat" cmpd="sng" algn="ctr">
                      <a:solidFill>
                        <a:srgbClr val="2A4F8A"/>
                      </a:solidFill>
                      <a:prstDash val="solid"/>
                      <a:round/>
                      <a:headEnd type="none" w="med" len="med"/>
                      <a:tailEnd type="none" w="med" len="med"/>
                    </a:lnT>
                    <a:lnB w="6350" cap="flat" cmpd="sng" algn="ctr">
                      <a:solidFill>
                        <a:srgbClr val="2A4F8A"/>
                      </a:solidFill>
                      <a:prstDash val="solid"/>
                      <a:round/>
                      <a:headEnd type="none" w="med" len="med"/>
                      <a:tailEnd type="none" w="med" len="med"/>
                    </a:lnB>
                    <a:solidFill>
                      <a:srgbClr val="16213E"/>
                    </a:solidFill>
                  </a:tcPr>
                </a:tc>
                <a:extLst>
                  <a:ext uri="{0D108BD9-81ED-4DB2-BD59-A6C34878D82A}">
                    <a16:rowId xmlns:a16="http://schemas.microsoft.com/office/drawing/2014/main" val="10007"/>
                  </a:ext>
                </a:extLst>
              </a:tr>
            </a:tbl>
          </a:graphicData>
        </a:graphic>
      </p:graphicFrame>
      <p:sp>
        <p:nvSpPr>
          <p:cNvPr id="23" name="Text 20"/>
          <p:cNvSpPr/>
          <p:nvPr/>
        </p:nvSpPr>
        <p:spPr>
          <a:xfrm>
            <a:off x="5349240" y="1993392"/>
            <a:ext cx="347472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Models &amp; Pipeline</a:t>
            </a:r>
            <a:endParaRPr lang="en-US" sz="1400" dirty="0"/>
          </a:p>
        </p:txBody>
      </p:sp>
      <p:sp>
        <p:nvSpPr>
          <p:cNvPr id="24" name="Shape 21"/>
          <p:cNvSpPr/>
          <p:nvPr/>
        </p:nvSpPr>
        <p:spPr>
          <a:xfrm>
            <a:off x="5349240" y="2331720"/>
            <a:ext cx="320040" cy="320040"/>
          </a:xfrm>
          <a:prstGeom prst="ellipse">
            <a:avLst/>
          </a:prstGeom>
          <a:solidFill>
            <a:srgbClr val="CC0000"/>
          </a:solidFill>
          <a:ln w="12700">
            <a:solidFill>
              <a:srgbClr val="CC0000"/>
            </a:solidFill>
            <a:prstDash val="solid"/>
          </a:ln>
        </p:spPr>
      </p:sp>
      <p:sp>
        <p:nvSpPr>
          <p:cNvPr id="25" name="Text 22"/>
          <p:cNvSpPr/>
          <p:nvPr/>
        </p:nvSpPr>
        <p:spPr>
          <a:xfrm>
            <a:off x="5349240" y="2331720"/>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6" name="Text 23"/>
          <p:cNvSpPr/>
          <p:nvPr/>
        </p:nvSpPr>
        <p:spPr>
          <a:xfrm>
            <a:off x="5760720" y="2313432"/>
            <a:ext cx="3108960" cy="219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Collection</a:t>
            </a:r>
            <a:endParaRPr lang="en-US" sz="1200" dirty="0"/>
          </a:p>
        </p:txBody>
      </p:sp>
      <p:sp>
        <p:nvSpPr>
          <p:cNvPr id="27" name="Text 24"/>
          <p:cNvSpPr/>
          <p:nvPr/>
        </p:nvSpPr>
        <p:spPr>
          <a:xfrm>
            <a:off x="5760720" y="2514600"/>
            <a:ext cx="3108960" cy="182880"/>
          </a:xfrm>
          <a:prstGeom prst="rect">
            <a:avLst/>
          </a:prstGeom>
          <a:noFill/>
          <a:ln/>
        </p:spPr>
        <p:txBody>
          <a:bodyPr wrap="square" rtlCol="0" anchor="ctr"/>
          <a:lstStyle/>
          <a:p>
            <a:pPr marL="0" indent="0">
              <a:buNone/>
            </a:pPr>
            <a:r>
              <a:rPr lang="en-US" sz="900" dirty="0">
                <a:solidFill>
                  <a:srgbClr val="A0A0B0"/>
                </a:solidFill>
                <a:latin typeface="Calibri" pitchFamily="34" charset="0"/>
                <a:ea typeface="Calibri" pitchFamily="34" charset="-122"/>
                <a:cs typeface="Calibri" pitchFamily="34" charset="-120"/>
              </a:rPr>
              <a:t>FastF1 API + Ergast API</a:t>
            </a:r>
            <a:endParaRPr lang="en-US" sz="900" dirty="0"/>
          </a:p>
        </p:txBody>
      </p:sp>
      <p:sp>
        <p:nvSpPr>
          <p:cNvPr id="28" name="Shape 25"/>
          <p:cNvSpPr/>
          <p:nvPr/>
        </p:nvSpPr>
        <p:spPr>
          <a:xfrm>
            <a:off x="5504688" y="2670048"/>
            <a:ext cx="0" cy="182880"/>
          </a:xfrm>
          <a:prstGeom prst="line">
            <a:avLst/>
          </a:prstGeom>
          <a:noFill/>
          <a:ln w="12700">
            <a:solidFill>
              <a:srgbClr val="E94560"/>
            </a:solidFill>
            <a:prstDash val="solid"/>
          </a:ln>
        </p:spPr>
      </p:sp>
      <p:sp>
        <p:nvSpPr>
          <p:cNvPr id="29" name="Shape 26"/>
          <p:cNvSpPr/>
          <p:nvPr/>
        </p:nvSpPr>
        <p:spPr>
          <a:xfrm>
            <a:off x="5349240" y="2843784"/>
            <a:ext cx="320040" cy="320040"/>
          </a:xfrm>
          <a:prstGeom prst="ellipse">
            <a:avLst/>
          </a:prstGeom>
          <a:solidFill>
            <a:srgbClr val="CC0000"/>
          </a:solidFill>
          <a:ln w="12700">
            <a:solidFill>
              <a:srgbClr val="CC0000"/>
            </a:solidFill>
            <a:prstDash val="solid"/>
          </a:ln>
        </p:spPr>
      </p:sp>
      <p:sp>
        <p:nvSpPr>
          <p:cNvPr id="30" name="Text 27"/>
          <p:cNvSpPr/>
          <p:nvPr/>
        </p:nvSpPr>
        <p:spPr>
          <a:xfrm>
            <a:off x="5349240" y="2843784"/>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p:nvPr/>
        </p:nvSpPr>
        <p:spPr>
          <a:xfrm>
            <a:off x="5760720" y="2825496"/>
            <a:ext cx="3108960" cy="219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Preprocessing</a:t>
            </a:r>
            <a:endParaRPr lang="en-US" sz="1200" dirty="0"/>
          </a:p>
        </p:txBody>
      </p:sp>
      <p:sp>
        <p:nvSpPr>
          <p:cNvPr id="32" name="Text 29"/>
          <p:cNvSpPr/>
          <p:nvPr/>
        </p:nvSpPr>
        <p:spPr>
          <a:xfrm>
            <a:off x="5760720" y="3026664"/>
            <a:ext cx="3108960" cy="182880"/>
          </a:xfrm>
          <a:prstGeom prst="rect">
            <a:avLst/>
          </a:prstGeom>
          <a:noFill/>
          <a:ln/>
        </p:spPr>
        <p:txBody>
          <a:bodyPr wrap="square" rtlCol="0" anchor="ctr"/>
          <a:lstStyle/>
          <a:p>
            <a:pPr marL="0" indent="0">
              <a:buNone/>
            </a:pPr>
            <a:r>
              <a:rPr lang="en-US" sz="900" dirty="0">
                <a:solidFill>
                  <a:srgbClr val="A0A0B0"/>
                </a:solidFill>
                <a:latin typeface="Calibri" pitchFamily="34" charset="0"/>
                <a:ea typeface="Calibri" pitchFamily="34" charset="-122"/>
                <a:cs typeface="Calibri" pitchFamily="34" charset="-120"/>
              </a:rPr>
              <a:t>MinMaxScaler, LabelEncoder, imputation</a:t>
            </a:r>
            <a:endParaRPr lang="en-US" sz="900" dirty="0"/>
          </a:p>
        </p:txBody>
      </p:sp>
      <p:sp>
        <p:nvSpPr>
          <p:cNvPr id="33" name="Shape 30"/>
          <p:cNvSpPr/>
          <p:nvPr/>
        </p:nvSpPr>
        <p:spPr>
          <a:xfrm>
            <a:off x="5504688" y="3182112"/>
            <a:ext cx="0" cy="182880"/>
          </a:xfrm>
          <a:prstGeom prst="line">
            <a:avLst/>
          </a:prstGeom>
          <a:noFill/>
          <a:ln w="12700">
            <a:solidFill>
              <a:srgbClr val="E94560"/>
            </a:solidFill>
            <a:prstDash val="solid"/>
          </a:ln>
        </p:spPr>
      </p:sp>
      <p:sp>
        <p:nvSpPr>
          <p:cNvPr id="34" name="Shape 31"/>
          <p:cNvSpPr/>
          <p:nvPr/>
        </p:nvSpPr>
        <p:spPr>
          <a:xfrm>
            <a:off x="5349240" y="3355848"/>
            <a:ext cx="320040" cy="320040"/>
          </a:xfrm>
          <a:prstGeom prst="ellipse">
            <a:avLst/>
          </a:prstGeom>
          <a:solidFill>
            <a:srgbClr val="CC0000"/>
          </a:solidFill>
          <a:ln w="12700">
            <a:solidFill>
              <a:srgbClr val="CC0000"/>
            </a:solidFill>
            <a:prstDash val="solid"/>
          </a:ln>
        </p:spPr>
      </p:sp>
      <p:sp>
        <p:nvSpPr>
          <p:cNvPr id="35" name="Text 32"/>
          <p:cNvSpPr/>
          <p:nvPr/>
        </p:nvSpPr>
        <p:spPr>
          <a:xfrm>
            <a:off x="5349240" y="3355848"/>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Text 33"/>
          <p:cNvSpPr/>
          <p:nvPr/>
        </p:nvSpPr>
        <p:spPr>
          <a:xfrm>
            <a:off x="5760720" y="3337560"/>
            <a:ext cx="3108960" cy="219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Train Models</a:t>
            </a:r>
            <a:endParaRPr lang="en-US" sz="1200" dirty="0"/>
          </a:p>
        </p:txBody>
      </p:sp>
      <p:sp>
        <p:nvSpPr>
          <p:cNvPr id="37" name="Text 34"/>
          <p:cNvSpPr/>
          <p:nvPr/>
        </p:nvSpPr>
        <p:spPr>
          <a:xfrm>
            <a:off x="5760720" y="3538728"/>
            <a:ext cx="3108960" cy="182880"/>
          </a:xfrm>
          <a:prstGeom prst="rect">
            <a:avLst/>
          </a:prstGeom>
          <a:noFill/>
          <a:ln/>
        </p:spPr>
        <p:txBody>
          <a:bodyPr wrap="square" rtlCol="0" anchor="ctr"/>
          <a:lstStyle/>
          <a:p>
            <a:pPr marL="0" indent="0">
              <a:buNone/>
            </a:pPr>
            <a:r>
              <a:rPr lang="en-US" sz="900" dirty="0">
                <a:solidFill>
                  <a:srgbClr val="A0A0B0"/>
                </a:solidFill>
                <a:latin typeface="Calibri" pitchFamily="34" charset="0"/>
                <a:ea typeface="Calibri" pitchFamily="34" charset="-122"/>
                <a:cs typeface="Calibri" pitchFamily="34" charset="-120"/>
              </a:rPr>
              <a:t>LR · RF · XGBoost · LightGBM</a:t>
            </a:r>
            <a:endParaRPr lang="en-US" sz="900" dirty="0"/>
          </a:p>
        </p:txBody>
      </p:sp>
      <p:sp>
        <p:nvSpPr>
          <p:cNvPr id="38" name="Shape 35"/>
          <p:cNvSpPr/>
          <p:nvPr/>
        </p:nvSpPr>
        <p:spPr>
          <a:xfrm>
            <a:off x="5504688" y="3694176"/>
            <a:ext cx="0" cy="182880"/>
          </a:xfrm>
          <a:prstGeom prst="line">
            <a:avLst/>
          </a:prstGeom>
          <a:noFill/>
          <a:ln w="12700">
            <a:solidFill>
              <a:srgbClr val="E94560"/>
            </a:solidFill>
            <a:prstDash val="solid"/>
          </a:ln>
        </p:spPr>
      </p:sp>
      <p:sp>
        <p:nvSpPr>
          <p:cNvPr id="39" name="Shape 36"/>
          <p:cNvSpPr/>
          <p:nvPr/>
        </p:nvSpPr>
        <p:spPr>
          <a:xfrm>
            <a:off x="5349240" y="3867912"/>
            <a:ext cx="320040" cy="320040"/>
          </a:xfrm>
          <a:prstGeom prst="ellipse">
            <a:avLst/>
          </a:prstGeom>
          <a:solidFill>
            <a:srgbClr val="CC0000"/>
          </a:solidFill>
          <a:ln w="12700">
            <a:solidFill>
              <a:srgbClr val="CC0000"/>
            </a:solidFill>
            <a:prstDash val="solid"/>
          </a:ln>
        </p:spPr>
      </p:sp>
      <p:sp>
        <p:nvSpPr>
          <p:cNvPr id="40" name="Text 37"/>
          <p:cNvSpPr/>
          <p:nvPr/>
        </p:nvSpPr>
        <p:spPr>
          <a:xfrm>
            <a:off x="5349240" y="3867912"/>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8"/>
          <p:cNvSpPr/>
          <p:nvPr/>
        </p:nvSpPr>
        <p:spPr>
          <a:xfrm>
            <a:off x="5760720" y="3849624"/>
            <a:ext cx="3108960" cy="219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Evaluate</a:t>
            </a:r>
            <a:endParaRPr lang="en-US" sz="1200" dirty="0"/>
          </a:p>
        </p:txBody>
      </p:sp>
      <p:sp>
        <p:nvSpPr>
          <p:cNvPr id="42" name="Text 39"/>
          <p:cNvSpPr/>
          <p:nvPr/>
        </p:nvSpPr>
        <p:spPr>
          <a:xfrm>
            <a:off x="5760720" y="4050792"/>
            <a:ext cx="3108960" cy="182880"/>
          </a:xfrm>
          <a:prstGeom prst="rect">
            <a:avLst/>
          </a:prstGeom>
          <a:noFill/>
          <a:ln/>
        </p:spPr>
        <p:txBody>
          <a:bodyPr wrap="square" rtlCol="0" anchor="ctr"/>
          <a:lstStyle/>
          <a:p>
            <a:pPr marL="0" indent="0">
              <a:buNone/>
            </a:pPr>
            <a:r>
              <a:rPr lang="en-US" sz="900" dirty="0">
                <a:solidFill>
                  <a:srgbClr val="A0A0B0"/>
                </a:solidFill>
                <a:latin typeface="Calibri" pitchFamily="34" charset="0"/>
                <a:ea typeface="Calibri" pitchFamily="34" charset="-122"/>
                <a:cs typeface="Calibri" pitchFamily="34" charset="-120"/>
              </a:rPr>
              <a:t>Row-level F1 + Race-level accuracy</a:t>
            </a:r>
            <a:endParaRPr lang="en-US" sz="900" dirty="0"/>
          </a:p>
        </p:txBody>
      </p:sp>
      <p:sp>
        <p:nvSpPr>
          <p:cNvPr id="43" name="Shape 40"/>
          <p:cNvSpPr/>
          <p:nvPr/>
        </p:nvSpPr>
        <p:spPr>
          <a:xfrm>
            <a:off x="5504688" y="4206240"/>
            <a:ext cx="0" cy="182880"/>
          </a:xfrm>
          <a:prstGeom prst="line">
            <a:avLst/>
          </a:prstGeom>
          <a:noFill/>
          <a:ln w="12700">
            <a:solidFill>
              <a:srgbClr val="E94560"/>
            </a:solidFill>
            <a:prstDash val="solid"/>
          </a:ln>
        </p:spPr>
      </p:sp>
      <p:sp>
        <p:nvSpPr>
          <p:cNvPr id="44" name="Shape 41"/>
          <p:cNvSpPr/>
          <p:nvPr/>
        </p:nvSpPr>
        <p:spPr>
          <a:xfrm>
            <a:off x="5349240" y="4379976"/>
            <a:ext cx="320040" cy="320040"/>
          </a:xfrm>
          <a:prstGeom prst="ellipse">
            <a:avLst/>
          </a:prstGeom>
          <a:solidFill>
            <a:srgbClr val="CC0000"/>
          </a:solidFill>
          <a:ln w="12700">
            <a:solidFill>
              <a:srgbClr val="CC0000"/>
            </a:solidFill>
            <a:prstDash val="solid"/>
          </a:ln>
        </p:spPr>
      </p:sp>
      <p:sp>
        <p:nvSpPr>
          <p:cNvPr id="45" name="Text 42"/>
          <p:cNvSpPr/>
          <p:nvPr/>
        </p:nvSpPr>
        <p:spPr>
          <a:xfrm>
            <a:off x="5349240" y="4379976"/>
            <a:ext cx="32004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6" name="Text 43"/>
          <p:cNvSpPr/>
          <p:nvPr/>
        </p:nvSpPr>
        <p:spPr>
          <a:xfrm>
            <a:off x="5760720" y="4361688"/>
            <a:ext cx="3108960" cy="21945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Interpret (SHAP)</a:t>
            </a:r>
            <a:endParaRPr lang="en-US" sz="1200" dirty="0"/>
          </a:p>
        </p:txBody>
      </p:sp>
      <p:sp>
        <p:nvSpPr>
          <p:cNvPr id="47" name="Text 44"/>
          <p:cNvSpPr/>
          <p:nvPr/>
        </p:nvSpPr>
        <p:spPr>
          <a:xfrm>
            <a:off x="5760720" y="4562856"/>
            <a:ext cx="3108960" cy="182880"/>
          </a:xfrm>
          <a:prstGeom prst="rect">
            <a:avLst/>
          </a:prstGeom>
          <a:noFill/>
          <a:ln/>
        </p:spPr>
        <p:txBody>
          <a:bodyPr wrap="square" rtlCol="0" anchor="ctr"/>
          <a:lstStyle/>
          <a:p>
            <a:pPr marL="0" indent="0">
              <a:buNone/>
            </a:pPr>
            <a:r>
              <a:rPr lang="en-US" sz="900" dirty="0">
                <a:solidFill>
                  <a:srgbClr val="A0A0B0"/>
                </a:solidFill>
                <a:latin typeface="Calibri" pitchFamily="34" charset="0"/>
                <a:ea typeface="Calibri" pitchFamily="34" charset="-122"/>
                <a:cs typeface="Calibri" pitchFamily="34" charset="-120"/>
              </a:rPr>
              <a:t>Feature importance for XGBoost</a:t>
            </a:r>
            <a:endParaRPr lang="en-US" sz="900" dirty="0"/>
          </a:p>
        </p:txBody>
      </p:sp>
      <p:sp>
        <p:nvSpPr>
          <p:cNvPr id="48" name="Text 45"/>
          <p:cNvSpPr/>
          <p:nvPr/>
        </p:nvSpPr>
        <p:spPr>
          <a:xfrm>
            <a:off x="8778240" y="4846320"/>
            <a:ext cx="274320" cy="182880"/>
          </a:xfrm>
          <a:prstGeom prst="rect">
            <a:avLst/>
          </a:prstGeom>
          <a:noFill/>
          <a:ln/>
        </p:spPr>
        <p:txBody>
          <a:bodyPr wrap="square" rtlCol="0" anchor="ctr"/>
          <a:lstStyle/>
          <a:p>
            <a:pPr marL="0" indent="0" algn="ctr">
              <a:buNone/>
            </a:pPr>
            <a:r>
              <a:rPr lang="en-US" sz="1000" dirty="0">
                <a:solidFill>
                  <a:srgbClr val="A0A0B0"/>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Shape 1"/>
          <p:cNvSpPr/>
          <p:nvPr/>
        </p:nvSpPr>
        <p:spPr>
          <a:xfrm>
            <a:off x="0" y="0"/>
            <a:ext cx="164592" cy="640080"/>
          </a:xfrm>
          <a:prstGeom prst="rect">
            <a:avLst/>
          </a:prstGeom>
          <a:solidFill>
            <a:srgbClr val="CC0000"/>
          </a:solidFill>
          <a:ln w="12700">
            <a:solidFill>
              <a:srgbClr val="CC0000"/>
            </a:solidFill>
            <a:prstDash val="solid"/>
          </a:ln>
        </p:spPr>
      </p:sp>
      <p:sp>
        <p:nvSpPr>
          <p:cNvPr id="4" name="Text 2"/>
          <p:cNvSpPr/>
          <p:nvPr/>
        </p:nvSpPr>
        <p:spPr>
          <a:xfrm>
            <a:off x="320040" y="91440"/>
            <a:ext cx="841248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Performance Results</a:t>
            </a:r>
            <a:endParaRPr lang="en-US" sz="2200" dirty="0"/>
          </a:p>
        </p:txBody>
      </p:sp>
      <p:sp>
        <p:nvSpPr>
          <p:cNvPr id="5" name="Text 3"/>
          <p:cNvSpPr/>
          <p:nvPr/>
        </p:nvSpPr>
        <p:spPr>
          <a:xfrm>
            <a:off x="365760" y="731520"/>
            <a:ext cx="5029200" cy="274320"/>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Table 1. Row-level and Race-level Metrics (2024 Test Set)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4937760" cy="2054352"/>
        </p:xfrm>
        <a:graphic>
          <a:graphicData uri="http://schemas.openxmlformats.org/drawingml/2006/table">
            <a:tbl>
              <a:tblPr/>
              <a:tblGrid>
                <a:gridCol w="1371600">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886968">
                  <a:extLst>
                    <a:ext uri="{9D8B030D-6E8A-4147-A177-3AD203B41FA5}">
                      <a16:colId xmlns:a16="http://schemas.microsoft.com/office/drawing/2014/main" val="20005"/>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Race Acc.</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0.825</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0.206</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0.875</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0.333</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0.333 (8/24)</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0.940</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0.391</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0.375</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0.383</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A6B3C"/>
                          </a:solidFill>
                          <a:latin typeface="Calibri" pitchFamily="34" charset="0"/>
                          <a:ea typeface="Calibri" pitchFamily="34" charset="-122"/>
                          <a:cs typeface="Calibri" pitchFamily="34" charset="-120"/>
                        </a:rPr>
                        <a:t>0.417 (10/24) ★</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ctr">
                        <a:buNone/>
                      </a:pPr>
                      <a:r>
                        <a:rPr lang="en-US" sz="1100" b="1" dirty="0">
                          <a:solidFill>
                            <a:srgbClr val="1A1A2E"/>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0.921</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0.348</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0.667</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E94560"/>
                          </a:solidFill>
                          <a:latin typeface="Calibri" pitchFamily="34" charset="0"/>
                          <a:ea typeface="Calibri" pitchFamily="34" charset="-122"/>
                          <a:cs typeface="Calibri" pitchFamily="34" charset="-120"/>
                        </a:rPr>
                        <a:t>0.457 ★</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0.375 (9/24)</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0.906</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0.267</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0.500</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0.348</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Calibri" pitchFamily="34" charset="0"/>
                          <a:ea typeface="Calibri" pitchFamily="34" charset="-122"/>
                          <a:cs typeface="Calibri" pitchFamily="34" charset="-120"/>
                        </a:rPr>
                        <a:t>0.333 (8/24)</a:t>
                      </a:r>
                      <a:endParaRPr lang="en-US" sz="1100" dirty="0">
                        <a:latin typeface="Calibri" charset="0"/>
                        <a:ea typeface="Calibri" charset="0"/>
                        <a:cs typeface="Calibri" charset="0"/>
                      </a:endParaRPr>
                    </a:p>
                  </a:txBody>
                  <a:tcPr anchor="ctr">
                    <a:lnL w="6350" cap="flat" cmpd="sng" algn="ctr">
                      <a:solidFill>
                        <a:srgbClr val="CCCCDD"/>
                      </a:solidFill>
                      <a:prstDash val="solid"/>
                      <a:round/>
                      <a:headEnd type="none" w="med" len="med"/>
                      <a:tailEnd type="none" w="med" len="med"/>
                    </a:lnL>
                    <a:lnR w="6350" cap="flat" cmpd="sng" algn="ctr">
                      <a:solidFill>
                        <a:srgbClr val="CCCCDD"/>
                      </a:solidFill>
                      <a:prstDash val="solid"/>
                      <a:round/>
                      <a:headEnd type="none" w="med" len="med"/>
                      <a:tailEnd type="none" w="med" len="med"/>
                    </a:lnR>
                    <a:lnT w="6350" cap="flat" cmpd="sng" algn="ctr">
                      <a:solidFill>
                        <a:srgbClr val="CCCCDD"/>
                      </a:solidFill>
                      <a:prstDash val="solid"/>
                      <a:round/>
                      <a:headEnd type="none" w="med" len="med"/>
                      <a:tailEnd type="none" w="med" len="med"/>
                    </a:lnT>
                    <a:lnB w="6350" cap="flat" cmpd="sng" algn="ctr">
                      <a:solidFill>
                        <a:srgbClr val="CCCC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365760" y="3108960"/>
            <a:ext cx="4937760" cy="777240"/>
          </a:xfrm>
          <a:prstGeom prst="rect">
            <a:avLst/>
          </a:prstGeom>
          <a:solidFill>
            <a:srgbClr val="FFF3CD"/>
          </a:solidFill>
          <a:ln w="12700">
            <a:solidFill>
              <a:srgbClr val="F1C40F"/>
            </a:solidFill>
            <a:prstDash val="solid"/>
          </a:ln>
        </p:spPr>
      </p:sp>
      <p:sp>
        <p:nvSpPr>
          <p:cNvPr id="8" name="Text 5"/>
          <p:cNvSpPr/>
          <p:nvPr/>
        </p:nvSpPr>
        <p:spPr>
          <a:xfrm>
            <a:off x="548640" y="3200400"/>
            <a:ext cx="4572000" cy="594360"/>
          </a:xfrm>
          <a:prstGeom prst="rect">
            <a:avLst/>
          </a:prstGeom>
          <a:noFill/>
          <a:ln/>
        </p:spPr>
        <p:txBody>
          <a:bodyPr wrap="square" rtlCol="0" anchor="ctr"/>
          <a:lstStyle/>
          <a:p>
            <a:pPr marL="0" indent="0">
              <a:buNone/>
            </a:pPr>
            <a:r>
              <a:rPr lang="en-US" sz="1200" b="1" dirty="0">
                <a:solidFill>
                  <a:srgbClr val="7D5A00"/>
                </a:solidFill>
                <a:latin typeface="Calibri" pitchFamily="34" charset="0"/>
                <a:ea typeface="Calibri" pitchFamily="34" charset="-122"/>
                <a:cs typeface="Calibri" pitchFamily="34" charset="-120"/>
              </a:rPr>
              <a:t>Key Insight: </a:t>
            </a:r>
            <a:r>
              <a:rPr lang="en-US" sz="1200" dirty="0">
                <a:solidFill>
                  <a:srgbClr val="5C4100"/>
                </a:solidFill>
                <a:latin typeface="Calibri" pitchFamily="34" charset="0"/>
                <a:ea typeface="Calibri" pitchFamily="34" charset="-122"/>
                <a:cs typeface="Calibri" pitchFamily="34" charset="-120"/>
              </a:rPr>
              <a:t>Row-level accuracy (0.92) is misleading — a model that always predicts 'no win' also scores 0.95. Race-level accuracy (~0.42) is the honest measure of real-world performance.</a:t>
            </a:r>
            <a:endParaRPr lang="en-US" sz="1200" dirty="0"/>
          </a:p>
        </p:txBody>
      </p:sp>
      <p:sp>
        <p:nvSpPr>
          <p:cNvPr id="9" name="Text 6"/>
          <p:cNvSpPr/>
          <p:nvPr/>
        </p:nvSpPr>
        <p:spPr>
          <a:xfrm>
            <a:off x="5440680" y="731520"/>
            <a:ext cx="3474720" cy="274320"/>
          </a:xfrm>
          <a:prstGeom prst="rect">
            <a:avLst/>
          </a:prstGeom>
          <a:noFill/>
          <a:ln/>
        </p:spPr>
        <p:txBody>
          <a:bodyPr wrap="square" rtlCol="0" anchor="ctr"/>
          <a:lstStyle/>
          <a:p>
            <a:pPr marL="0" indent="0" algn="ctr">
              <a:buNone/>
            </a:pPr>
            <a:r>
              <a:rPr lang="en-US" sz="1100" b="1" dirty="0">
                <a:solidFill>
                  <a:srgbClr val="1A1A2E"/>
                </a:solidFill>
                <a:latin typeface="Calibri" pitchFamily="34" charset="0"/>
                <a:ea typeface="Calibri" pitchFamily="34" charset="-122"/>
                <a:cs typeface="Calibri" pitchFamily="34" charset="-120"/>
              </a:rPr>
              <a:t>F1-Score by Model</a:t>
            </a:r>
            <a:endParaRPr lang="en-US" sz="1100" dirty="0"/>
          </a:p>
        </p:txBody>
      </p:sp>
      <p:graphicFrame>
        <p:nvGraphicFramePr>
          <p:cNvPr id="10" name="Chart 0"/>
          <p:cNvGraphicFramePr/>
          <p:nvPr/>
        </p:nvGraphicFramePr>
        <p:xfrm>
          <a:off x="5394960" y="1005840"/>
          <a:ext cx="347472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p:nvPr/>
        </p:nvSpPr>
        <p:spPr>
          <a:xfrm>
            <a:off x="5394960" y="3310128"/>
            <a:ext cx="3474720" cy="256032"/>
          </a:xfrm>
          <a:prstGeom prst="rect">
            <a:avLst/>
          </a:prstGeom>
          <a:noFill/>
          <a:ln/>
        </p:spPr>
        <p:txBody>
          <a:bodyPr wrap="square" rtlCol="0" anchor="ctr"/>
          <a:lstStyle/>
          <a:p>
            <a:pPr marL="0" indent="0" algn="ctr">
              <a:buNone/>
            </a:pPr>
            <a:r>
              <a:rPr lang="en-US" sz="1000" b="1" dirty="0">
                <a:solidFill>
                  <a:srgbClr val="1A1A2E"/>
                </a:solidFill>
                <a:latin typeface="Calibri" pitchFamily="34" charset="0"/>
                <a:ea typeface="Calibri" pitchFamily="34" charset="-122"/>
                <a:cs typeface="Calibri" pitchFamily="34" charset="-120"/>
              </a:rPr>
              <a:t>Race Winner Accuracy (out of 24)</a:t>
            </a:r>
            <a:endParaRPr lang="en-US" sz="1000" dirty="0"/>
          </a:p>
        </p:txBody>
      </p:sp>
      <p:graphicFrame>
        <p:nvGraphicFramePr>
          <p:cNvPr id="12" name="Chart 1"/>
          <p:cNvGraphicFramePr/>
          <p:nvPr/>
        </p:nvGraphicFramePr>
        <p:xfrm>
          <a:off x="5394960" y="3566160"/>
          <a:ext cx="3474720" cy="132588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8"/>
          <p:cNvSpPr/>
          <p:nvPr/>
        </p:nvSpPr>
        <p:spPr>
          <a:xfrm>
            <a:off x="8778240" y="4846320"/>
            <a:ext cx="274320" cy="182880"/>
          </a:xfrm>
          <a:prstGeom prst="rect">
            <a:avLst/>
          </a:prstGeom>
          <a:noFill/>
          <a:ln/>
        </p:spPr>
        <p:txBody>
          <a:bodyPr wrap="square" rtlCol="0" anchor="ctr"/>
          <a:lstStyle/>
          <a:p>
            <a:pPr marL="0" indent="0" algn="ctr">
              <a:buNone/>
            </a:pPr>
            <a:r>
              <a:rPr lang="en-US" sz="1000" dirty="0">
                <a:solidFill>
                  <a:srgbClr val="A0A0B0"/>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6213E"/>
          </a:solidFill>
          <a:ln w="12700">
            <a:solidFill>
              <a:srgbClr val="16213E"/>
            </a:solidFill>
            <a:prstDash val="solid"/>
          </a:ln>
        </p:spPr>
      </p:sp>
      <p:sp>
        <p:nvSpPr>
          <p:cNvPr id="3" name="Shape 1"/>
          <p:cNvSpPr/>
          <p:nvPr/>
        </p:nvSpPr>
        <p:spPr>
          <a:xfrm>
            <a:off x="0" y="0"/>
            <a:ext cx="164592" cy="640080"/>
          </a:xfrm>
          <a:prstGeom prst="rect">
            <a:avLst/>
          </a:prstGeom>
          <a:solidFill>
            <a:srgbClr val="CC0000"/>
          </a:solidFill>
          <a:ln w="12700">
            <a:solidFill>
              <a:srgbClr val="CC0000"/>
            </a:solidFill>
            <a:prstDash val="solid"/>
          </a:ln>
        </p:spPr>
      </p:sp>
      <p:sp>
        <p:nvSpPr>
          <p:cNvPr id="4" name="Text 2"/>
          <p:cNvSpPr/>
          <p:nvPr/>
        </p:nvSpPr>
        <p:spPr>
          <a:xfrm>
            <a:off x="320040" y="91440"/>
            <a:ext cx="841248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Feature Importance — SHAP Analysis (XGBoost)</a:t>
            </a:r>
            <a:endParaRPr lang="en-US" sz="2200" dirty="0"/>
          </a:p>
        </p:txBody>
      </p:sp>
      <p:graphicFrame>
        <p:nvGraphicFramePr>
          <p:cNvPr id="5" name="Chart 0"/>
          <p:cNvGraphicFramePr/>
          <p:nvPr/>
        </p:nvGraphicFramePr>
        <p:xfrm>
          <a:off x="274320" y="749808"/>
          <a:ext cx="49377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94960" y="804672"/>
            <a:ext cx="3474720" cy="1188720"/>
          </a:xfrm>
          <a:prstGeom prst="rect">
            <a:avLst/>
          </a:prstGeom>
          <a:solidFill>
            <a:srgbClr val="0F3460"/>
          </a:solidFill>
          <a:ln w="12700">
            <a:solidFill>
              <a:srgbClr val="E94560"/>
            </a:solidFill>
            <a:prstDash val="solid"/>
          </a:ln>
        </p:spPr>
      </p:sp>
      <p:sp>
        <p:nvSpPr>
          <p:cNvPr id="7" name="Shape 4"/>
          <p:cNvSpPr/>
          <p:nvPr/>
        </p:nvSpPr>
        <p:spPr>
          <a:xfrm>
            <a:off x="5394960" y="804672"/>
            <a:ext cx="502920" cy="1188720"/>
          </a:xfrm>
          <a:prstGeom prst="rect">
            <a:avLst/>
          </a:prstGeom>
          <a:solidFill>
            <a:srgbClr val="E94560"/>
          </a:solidFill>
          <a:ln w="12700">
            <a:solidFill>
              <a:srgbClr val="E94560"/>
            </a:solidFill>
            <a:prstDash val="solid"/>
          </a:ln>
        </p:spPr>
      </p:sp>
      <p:sp>
        <p:nvSpPr>
          <p:cNvPr id="8" name="Text 5"/>
          <p:cNvSpPr/>
          <p:nvPr/>
        </p:nvSpPr>
        <p:spPr>
          <a:xfrm>
            <a:off x="5394960" y="804672"/>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5394960" y="1307592"/>
            <a:ext cx="502920" cy="6858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2.029</a:t>
            </a:r>
            <a:endParaRPr lang="en-US" sz="1100" dirty="0"/>
          </a:p>
        </p:txBody>
      </p:sp>
      <p:sp>
        <p:nvSpPr>
          <p:cNvPr id="10" name="Text 7"/>
          <p:cNvSpPr/>
          <p:nvPr/>
        </p:nvSpPr>
        <p:spPr>
          <a:xfrm>
            <a:off x="5989320" y="859536"/>
            <a:ext cx="2743200" cy="274320"/>
          </a:xfrm>
          <a:prstGeom prst="rect">
            <a:avLst/>
          </a:prstGeom>
          <a:noFill/>
          <a:ln/>
        </p:spPr>
        <p:txBody>
          <a:bodyPr wrap="square" rtlCol="0" anchor="ctr"/>
          <a:lstStyle/>
          <a:p>
            <a:pPr marL="0" indent="0">
              <a:buNone/>
            </a:pPr>
            <a:r>
              <a:rPr lang="en-US" sz="1300" b="1" dirty="0">
                <a:solidFill>
                  <a:srgbClr val="E94560"/>
                </a:solidFill>
                <a:latin typeface="Calibri" pitchFamily="34" charset="0"/>
                <a:ea typeface="Calibri" pitchFamily="34" charset="-122"/>
                <a:cs typeface="Calibri" pitchFamily="34" charset="-120"/>
              </a:rPr>
              <a:t>QualifyingPosition</a:t>
            </a:r>
            <a:endParaRPr lang="en-US" sz="1300" dirty="0"/>
          </a:p>
        </p:txBody>
      </p:sp>
      <p:sp>
        <p:nvSpPr>
          <p:cNvPr id="11" name="Text 8"/>
          <p:cNvSpPr/>
          <p:nvPr/>
        </p:nvSpPr>
        <p:spPr>
          <a:xfrm>
            <a:off x="5989320" y="1152144"/>
            <a:ext cx="2743200" cy="749808"/>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Starting at the front is the strongest predictor of victory — reflects F1's low overtaking difficulty</a:t>
            </a:r>
            <a:endParaRPr lang="en-US" sz="1050" dirty="0"/>
          </a:p>
        </p:txBody>
      </p:sp>
      <p:sp>
        <p:nvSpPr>
          <p:cNvPr id="12" name="Shape 9"/>
          <p:cNvSpPr/>
          <p:nvPr/>
        </p:nvSpPr>
        <p:spPr>
          <a:xfrm>
            <a:off x="5394960" y="2157984"/>
            <a:ext cx="3474720" cy="1188720"/>
          </a:xfrm>
          <a:prstGeom prst="rect">
            <a:avLst/>
          </a:prstGeom>
          <a:solidFill>
            <a:srgbClr val="0F3460"/>
          </a:solidFill>
          <a:ln w="12700">
            <a:solidFill>
              <a:srgbClr val="E8A838"/>
            </a:solidFill>
            <a:prstDash val="solid"/>
          </a:ln>
        </p:spPr>
      </p:sp>
      <p:sp>
        <p:nvSpPr>
          <p:cNvPr id="13" name="Shape 10"/>
          <p:cNvSpPr/>
          <p:nvPr/>
        </p:nvSpPr>
        <p:spPr>
          <a:xfrm>
            <a:off x="5394960" y="2157984"/>
            <a:ext cx="502920" cy="1188720"/>
          </a:xfrm>
          <a:prstGeom prst="rect">
            <a:avLst/>
          </a:prstGeom>
          <a:solidFill>
            <a:srgbClr val="E8A838"/>
          </a:solidFill>
          <a:ln w="12700">
            <a:solidFill>
              <a:srgbClr val="E8A838"/>
            </a:solidFill>
            <a:prstDash val="solid"/>
          </a:ln>
        </p:spPr>
      </p:sp>
      <p:sp>
        <p:nvSpPr>
          <p:cNvPr id="14" name="Text 11"/>
          <p:cNvSpPr/>
          <p:nvPr/>
        </p:nvSpPr>
        <p:spPr>
          <a:xfrm>
            <a:off x="5394960" y="215798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5394960" y="2660904"/>
            <a:ext cx="502920" cy="6858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1.632</a:t>
            </a:r>
            <a:endParaRPr lang="en-US" sz="1100" dirty="0"/>
          </a:p>
        </p:txBody>
      </p:sp>
      <p:sp>
        <p:nvSpPr>
          <p:cNvPr id="16" name="Text 13"/>
          <p:cNvSpPr/>
          <p:nvPr/>
        </p:nvSpPr>
        <p:spPr>
          <a:xfrm>
            <a:off x="5989320" y="2212848"/>
            <a:ext cx="2743200" cy="274320"/>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AvgFinishPosition</a:t>
            </a:r>
            <a:endParaRPr lang="en-US" sz="1300" dirty="0"/>
          </a:p>
        </p:txBody>
      </p:sp>
      <p:sp>
        <p:nvSpPr>
          <p:cNvPr id="17" name="Text 14"/>
          <p:cNvSpPr/>
          <p:nvPr/>
        </p:nvSpPr>
        <p:spPr>
          <a:xfrm>
            <a:off x="5989320" y="2505456"/>
            <a:ext cx="2743200" cy="749808"/>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Recent driver form matters almost as much as qualifying — consistency predicts winning</a:t>
            </a:r>
            <a:endParaRPr lang="en-US" sz="1050" dirty="0"/>
          </a:p>
        </p:txBody>
      </p:sp>
      <p:sp>
        <p:nvSpPr>
          <p:cNvPr id="18" name="Shape 15"/>
          <p:cNvSpPr/>
          <p:nvPr/>
        </p:nvSpPr>
        <p:spPr>
          <a:xfrm>
            <a:off x="5394960" y="3511296"/>
            <a:ext cx="3474720" cy="1188720"/>
          </a:xfrm>
          <a:prstGeom prst="rect">
            <a:avLst/>
          </a:prstGeom>
          <a:solidFill>
            <a:srgbClr val="0F3460"/>
          </a:solidFill>
          <a:ln w="12700">
            <a:solidFill>
              <a:srgbClr val="5BA85A"/>
            </a:solidFill>
            <a:prstDash val="solid"/>
          </a:ln>
        </p:spPr>
      </p:sp>
      <p:sp>
        <p:nvSpPr>
          <p:cNvPr id="19" name="Shape 16"/>
          <p:cNvSpPr/>
          <p:nvPr/>
        </p:nvSpPr>
        <p:spPr>
          <a:xfrm>
            <a:off x="5394960" y="3511296"/>
            <a:ext cx="502920" cy="1188720"/>
          </a:xfrm>
          <a:prstGeom prst="rect">
            <a:avLst/>
          </a:prstGeom>
          <a:solidFill>
            <a:srgbClr val="5BA85A"/>
          </a:solidFill>
          <a:ln w="12700">
            <a:solidFill>
              <a:srgbClr val="5BA85A"/>
            </a:solidFill>
            <a:prstDash val="solid"/>
          </a:ln>
        </p:spPr>
      </p:sp>
      <p:sp>
        <p:nvSpPr>
          <p:cNvPr id="20" name="Text 17"/>
          <p:cNvSpPr/>
          <p:nvPr/>
        </p:nvSpPr>
        <p:spPr>
          <a:xfrm>
            <a:off x="5394960" y="3511296"/>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p:nvPr/>
        </p:nvSpPr>
        <p:spPr>
          <a:xfrm>
            <a:off x="5394960" y="4014216"/>
            <a:ext cx="502920" cy="6858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1.363</a:t>
            </a:r>
            <a:endParaRPr lang="en-US" sz="1100" dirty="0"/>
          </a:p>
        </p:txBody>
      </p:sp>
      <p:sp>
        <p:nvSpPr>
          <p:cNvPr id="22" name="Text 19"/>
          <p:cNvSpPr/>
          <p:nvPr/>
        </p:nvSpPr>
        <p:spPr>
          <a:xfrm>
            <a:off x="5989320" y="3566160"/>
            <a:ext cx="2743200" cy="274320"/>
          </a:xfrm>
          <a:prstGeom prst="rect">
            <a:avLst/>
          </a:prstGeom>
          <a:noFill/>
          <a:ln/>
        </p:spPr>
        <p:txBody>
          <a:bodyPr wrap="square" rtlCol="0" anchor="ctr"/>
          <a:lstStyle/>
          <a:p>
            <a:pPr marL="0" indent="0">
              <a:buNone/>
            </a:pPr>
            <a:r>
              <a:rPr lang="en-US" sz="1300" b="1" dirty="0">
                <a:solidFill>
                  <a:srgbClr val="5BA85A"/>
                </a:solidFill>
                <a:latin typeface="Calibri" pitchFamily="34" charset="0"/>
                <a:ea typeface="Calibri" pitchFamily="34" charset="-122"/>
                <a:cs typeface="Calibri" pitchFamily="34" charset="-120"/>
              </a:rPr>
              <a:t>PrevSeasonConstrRank</a:t>
            </a:r>
            <a:endParaRPr lang="en-US" sz="1300" dirty="0"/>
          </a:p>
        </p:txBody>
      </p:sp>
      <p:sp>
        <p:nvSpPr>
          <p:cNvPr id="23" name="Text 20"/>
          <p:cNvSpPr/>
          <p:nvPr/>
        </p:nvSpPr>
        <p:spPr>
          <a:xfrm>
            <a:off x="5989320" y="3858768"/>
            <a:ext cx="2743200" cy="749808"/>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Car performance often outweighs driver skill — team matters more than individual talent</a:t>
            </a:r>
            <a:endParaRPr lang="en-US" sz="1050" dirty="0"/>
          </a:p>
        </p:txBody>
      </p:sp>
      <p:sp>
        <p:nvSpPr>
          <p:cNvPr id="24" name="Shape 21"/>
          <p:cNvSpPr/>
          <p:nvPr/>
        </p:nvSpPr>
        <p:spPr>
          <a:xfrm>
            <a:off x="5394960" y="4041648"/>
            <a:ext cx="3474720" cy="777240"/>
          </a:xfrm>
          <a:prstGeom prst="rect">
            <a:avLst/>
          </a:prstGeom>
          <a:solidFill>
            <a:srgbClr val="12284A"/>
          </a:solidFill>
          <a:ln w="12700">
            <a:solidFill>
              <a:srgbClr val="4A7AAD"/>
            </a:solidFill>
            <a:prstDash val="solid"/>
          </a:ln>
        </p:spPr>
      </p:sp>
      <p:sp>
        <p:nvSpPr>
          <p:cNvPr id="25" name="Text 22"/>
          <p:cNvSpPr/>
          <p:nvPr/>
        </p:nvSpPr>
        <p:spPr>
          <a:xfrm>
            <a:off x="5577840" y="4133088"/>
            <a:ext cx="3108960" cy="594360"/>
          </a:xfrm>
          <a:prstGeom prst="rect">
            <a:avLst/>
          </a:prstGeom>
          <a:noFill/>
          <a:ln/>
        </p:spPr>
        <p:txBody>
          <a:bodyPr wrap="square" rtlCol="0" anchor="ctr"/>
          <a:lstStyle/>
          <a:p>
            <a:pPr marL="0" indent="0">
              <a:buNone/>
            </a:pPr>
            <a:r>
              <a:rPr lang="en-US" sz="1100" b="1" dirty="0">
                <a:solidFill>
                  <a:srgbClr val="F1C40F"/>
                </a:solidFill>
                <a:latin typeface="Calibri" pitchFamily="34" charset="0"/>
                <a:ea typeface="Calibri" pitchFamily="34" charset="-122"/>
                <a:cs typeface="Calibri" pitchFamily="34" charset="-120"/>
              </a:rPr>
              <a:t>Surprising: </a:t>
            </a:r>
            <a:r>
              <a:rPr lang="en-US" sz="1050" dirty="0">
                <a:solidFill>
                  <a:srgbClr val="D0D0E0"/>
                </a:solidFill>
                <a:latin typeface="Calibri" pitchFamily="34" charset="0"/>
                <a:ea typeface="Calibri" pitchFamily="34" charset="-122"/>
                <a:cs typeface="Calibri" pitchFamily="34" charset="-120"/>
              </a:rPr>
              <a:t>Weather (SHAP 0.052) was nearly irrelevant — only 12% wet races in 11 seasons meant too few examples to learn meaningful patterns.</a:t>
            </a:r>
            <a:endParaRPr lang="en-US" sz="1100" dirty="0"/>
          </a:p>
        </p:txBody>
      </p:sp>
      <p:sp>
        <p:nvSpPr>
          <p:cNvPr id="26" name="Text 23"/>
          <p:cNvSpPr/>
          <p:nvPr/>
        </p:nvSpPr>
        <p:spPr>
          <a:xfrm>
            <a:off x="8778240" y="4846320"/>
            <a:ext cx="274320" cy="182880"/>
          </a:xfrm>
          <a:prstGeom prst="rect">
            <a:avLst/>
          </a:prstGeom>
          <a:noFill/>
          <a:ln/>
        </p:spPr>
        <p:txBody>
          <a:bodyPr wrap="square" rtlCol="0" anchor="ctr"/>
          <a:lstStyle/>
          <a:p>
            <a:pPr marL="0" indent="0" algn="ctr">
              <a:buNone/>
            </a:pPr>
            <a:r>
              <a:rPr lang="en-US" sz="1000" dirty="0">
                <a:solidFill>
                  <a:srgbClr val="A0A0B0"/>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1A2E"/>
          </a:solidFill>
          <a:ln w="12700">
            <a:solidFill>
              <a:srgbClr val="1A1A2E"/>
            </a:solidFill>
            <a:prstDash val="solid"/>
          </a:ln>
        </p:spPr>
      </p:sp>
      <p:sp>
        <p:nvSpPr>
          <p:cNvPr id="3" name="Shape 1"/>
          <p:cNvSpPr/>
          <p:nvPr/>
        </p:nvSpPr>
        <p:spPr>
          <a:xfrm>
            <a:off x="0" y="0"/>
            <a:ext cx="164592" cy="640080"/>
          </a:xfrm>
          <a:prstGeom prst="rect">
            <a:avLst/>
          </a:prstGeom>
          <a:solidFill>
            <a:srgbClr val="CC0000"/>
          </a:solidFill>
          <a:ln w="12700">
            <a:solidFill>
              <a:srgbClr val="CC0000"/>
            </a:solidFill>
            <a:prstDash val="solid"/>
          </a:ln>
        </p:spPr>
      </p:sp>
      <p:sp>
        <p:nvSpPr>
          <p:cNvPr id="4" name="Text 2"/>
          <p:cNvSpPr/>
          <p:nvPr/>
        </p:nvSpPr>
        <p:spPr>
          <a:xfrm>
            <a:off x="320040" y="91440"/>
            <a:ext cx="841248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Hypothesis Verification</a:t>
            </a:r>
            <a:endParaRPr lang="en-US" sz="2200" dirty="0"/>
          </a:p>
        </p:txBody>
      </p:sp>
      <p:sp>
        <p:nvSpPr>
          <p:cNvPr id="5" name="Shape 3"/>
          <p:cNvSpPr/>
          <p:nvPr/>
        </p:nvSpPr>
        <p:spPr>
          <a:xfrm>
            <a:off x="320040" y="777240"/>
            <a:ext cx="8503920" cy="1207008"/>
          </a:xfrm>
          <a:prstGeom prst="rect">
            <a:avLst/>
          </a:prstGeom>
          <a:solidFill>
            <a:srgbClr val="FFFFFF"/>
          </a:solidFill>
          <a:ln w="12700">
            <a:solidFill>
              <a:srgbClr val="CCCCDD"/>
            </a:solidFill>
            <a:prstDash val="solid"/>
          </a:ln>
          <a:effectLst>
            <a:outerShdw blurRad="50800" dist="25400" dir="8100000" algn="bl" rotWithShape="0">
              <a:srgbClr val="000000">
                <a:alpha val="6000"/>
              </a:srgbClr>
            </a:outerShdw>
          </a:effectLst>
        </p:spPr>
      </p:sp>
      <p:sp>
        <p:nvSpPr>
          <p:cNvPr id="6" name="Shape 4"/>
          <p:cNvSpPr/>
          <p:nvPr/>
        </p:nvSpPr>
        <p:spPr>
          <a:xfrm>
            <a:off x="320040" y="777240"/>
            <a:ext cx="530352" cy="1207008"/>
          </a:xfrm>
          <a:prstGeom prst="rect">
            <a:avLst/>
          </a:prstGeom>
          <a:solidFill>
            <a:srgbClr val="1A1A2E"/>
          </a:solidFill>
          <a:ln w="12700">
            <a:solidFill>
              <a:srgbClr val="1A1A2E"/>
            </a:solidFill>
            <a:prstDash val="solid"/>
          </a:ln>
        </p:spPr>
      </p:sp>
      <p:sp>
        <p:nvSpPr>
          <p:cNvPr id="7" name="Text 5"/>
          <p:cNvSpPr/>
          <p:nvPr/>
        </p:nvSpPr>
        <p:spPr>
          <a:xfrm>
            <a:off x="320040" y="777240"/>
            <a:ext cx="530352" cy="120700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H1</a:t>
            </a:r>
            <a:endParaRPr lang="en-US" sz="2000" dirty="0"/>
          </a:p>
        </p:txBody>
      </p:sp>
      <p:sp>
        <p:nvSpPr>
          <p:cNvPr id="8" name="Text 6"/>
          <p:cNvSpPr/>
          <p:nvPr/>
        </p:nvSpPr>
        <p:spPr>
          <a:xfrm>
            <a:off x="987552" y="868680"/>
            <a:ext cx="4754880" cy="292608"/>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ML vs. Dummy Baseline</a:t>
            </a:r>
            <a:endParaRPr lang="en-US" sz="1400" dirty="0"/>
          </a:p>
        </p:txBody>
      </p:sp>
      <p:sp>
        <p:nvSpPr>
          <p:cNvPr id="9" name="Text 7"/>
          <p:cNvSpPr/>
          <p:nvPr/>
        </p:nvSpPr>
        <p:spPr>
          <a:xfrm>
            <a:off x="987552" y="1170432"/>
            <a:ext cx="3200400" cy="256032"/>
          </a:xfrm>
          <a:prstGeom prst="rect">
            <a:avLst/>
          </a:prstGeom>
          <a:noFill/>
          <a:ln/>
        </p:spPr>
        <p:txBody>
          <a:bodyPr wrap="square" rtlCol="0" anchor="ctr"/>
          <a:lstStyle/>
          <a:p>
            <a:pPr marL="0" indent="0">
              <a:buNone/>
            </a:pPr>
            <a:r>
              <a:rPr lang="en-US" sz="1200" b="1" dirty="0">
                <a:solidFill>
                  <a:srgbClr val="27AE60"/>
                </a:solidFill>
                <a:latin typeface="Calibri" pitchFamily="34" charset="0"/>
                <a:ea typeface="Calibri" pitchFamily="34" charset="-122"/>
                <a:cs typeface="Calibri" pitchFamily="34" charset="-120"/>
              </a:rPr>
              <a:t>✓  SUPPORTED</a:t>
            </a:r>
            <a:endParaRPr lang="en-US" sz="1200" dirty="0"/>
          </a:p>
        </p:txBody>
      </p:sp>
      <p:sp>
        <p:nvSpPr>
          <p:cNvPr id="10" name="Text 8"/>
          <p:cNvSpPr/>
          <p:nvPr/>
        </p:nvSpPr>
        <p:spPr>
          <a:xfrm>
            <a:off x="987552" y="1444752"/>
            <a:ext cx="4937760" cy="475488"/>
          </a:xfrm>
          <a:prstGeom prst="rect">
            <a:avLst/>
          </a:prstGeom>
          <a:noFill/>
          <a:ln/>
        </p:spPr>
        <p:txBody>
          <a:bodyPr wrap="square" rtlCol="0" anchor="ctr"/>
          <a:lstStyle/>
          <a:p>
            <a:pPr marL="0" indent="0">
              <a:buNone/>
            </a:pPr>
            <a:r>
              <a:rPr lang="en-US" sz="1000" dirty="0">
                <a:solidFill>
                  <a:srgbClr val="555566"/>
                </a:solidFill>
                <a:latin typeface="Calibri" pitchFamily="34" charset="0"/>
                <a:ea typeface="Calibri" pitchFamily="34" charset="-122"/>
                <a:cs typeface="Calibri" pitchFamily="34" charset="-120"/>
              </a:rPr>
              <a:t>Dummy classifier (always predicts 'no win') → F1 = 0.000</a:t>
            </a:r>
            <a:endParaRPr lang="en-US" sz="1000" dirty="0"/>
          </a:p>
          <a:p>
            <a:pPr marL="0" indent="0">
              <a:buNone/>
            </a:pPr>
            <a:r>
              <a:rPr lang="en-US" sz="1000" dirty="0">
                <a:solidFill>
                  <a:srgbClr val="555566"/>
                </a:solidFill>
                <a:latin typeface="Calibri" pitchFamily="34" charset="0"/>
                <a:ea typeface="Calibri" pitchFamily="34" charset="-122"/>
                <a:cs typeface="Calibri" pitchFamily="34" charset="-120"/>
              </a:rPr>
              <a:t>XGBoost → F1 = 0.457</a:t>
            </a:r>
            <a:endParaRPr lang="en-US" sz="1000" dirty="0"/>
          </a:p>
          <a:p>
            <a:pPr marL="0" indent="0">
              <a:buNone/>
            </a:pPr>
            <a:r>
              <a:rPr lang="en-US" sz="1000" dirty="0">
                <a:solidFill>
                  <a:srgbClr val="555566"/>
                </a:solidFill>
                <a:latin typeface="Calibri" pitchFamily="34" charset="0"/>
                <a:ea typeface="Calibri" pitchFamily="34" charset="-122"/>
                <a:cs typeface="Calibri" pitchFamily="34" charset="-120"/>
              </a:rPr>
              <a:t>Improvement is absolute and significant</a:t>
            </a:r>
            <a:endParaRPr lang="en-US" sz="1000" dirty="0"/>
          </a:p>
        </p:txBody>
      </p:sp>
      <p:sp>
        <p:nvSpPr>
          <p:cNvPr id="11" name="Shape 9"/>
          <p:cNvSpPr/>
          <p:nvPr/>
        </p:nvSpPr>
        <p:spPr>
          <a:xfrm>
            <a:off x="6217920" y="886968"/>
            <a:ext cx="2423160" cy="987552"/>
          </a:xfrm>
          <a:prstGeom prst="rect">
            <a:avLst/>
          </a:prstGeom>
          <a:solidFill>
            <a:srgbClr val="F0FFF4"/>
          </a:solidFill>
          <a:ln w="12700">
            <a:solidFill>
              <a:srgbClr val="27AE60"/>
            </a:solidFill>
            <a:prstDash val="solid"/>
          </a:ln>
        </p:spPr>
      </p:sp>
      <p:sp>
        <p:nvSpPr>
          <p:cNvPr id="12" name="Text 10"/>
          <p:cNvSpPr/>
          <p:nvPr/>
        </p:nvSpPr>
        <p:spPr>
          <a:xfrm>
            <a:off x="6263640" y="960120"/>
            <a:ext cx="2331720" cy="274320"/>
          </a:xfrm>
          <a:prstGeom prst="rect">
            <a:avLst/>
          </a:prstGeom>
          <a:noFill/>
          <a:ln/>
        </p:spPr>
        <p:txBody>
          <a:bodyPr wrap="square" rtlCol="0" anchor="ctr"/>
          <a:lstStyle/>
          <a:p>
            <a:pPr marL="0" indent="0" algn="ctr">
              <a:buNone/>
            </a:pPr>
            <a:r>
              <a:rPr lang="en-US" sz="1100" dirty="0">
                <a:solidFill>
                  <a:srgbClr val="1A6B3C"/>
                </a:solidFill>
                <a:latin typeface="Calibri" pitchFamily="34" charset="0"/>
                <a:ea typeface="Calibri" pitchFamily="34" charset="-122"/>
                <a:cs typeface="Calibri" pitchFamily="34" charset="-120"/>
              </a:rPr>
              <a:t>F1: 0.000 → 0.457</a:t>
            </a:r>
            <a:endParaRPr lang="en-US" sz="1100" dirty="0"/>
          </a:p>
        </p:txBody>
      </p:sp>
      <p:sp>
        <p:nvSpPr>
          <p:cNvPr id="13" name="Text 11"/>
          <p:cNvSpPr/>
          <p:nvPr/>
        </p:nvSpPr>
        <p:spPr>
          <a:xfrm>
            <a:off x="6263640" y="1252728"/>
            <a:ext cx="2331720" cy="457200"/>
          </a:xfrm>
          <a:prstGeom prst="rect">
            <a:avLst/>
          </a:prstGeom>
          <a:noFill/>
          <a:ln/>
        </p:spPr>
        <p:txBody>
          <a:bodyPr wrap="square" rtlCol="0" anchor="ctr"/>
          <a:lstStyle/>
          <a:p>
            <a:pPr marL="0" indent="0" algn="ctr">
              <a:buNone/>
            </a:pPr>
            <a:r>
              <a:rPr lang="ru-RU" sz="2800" b="1" dirty="0" smtClean="0">
                <a:solidFill>
                  <a:srgbClr val="27AE60"/>
                </a:solidFill>
                <a:latin typeface="Calibri" pitchFamily="34" charset="0"/>
                <a:ea typeface="Calibri" pitchFamily="34" charset="-122"/>
                <a:cs typeface="Calibri" pitchFamily="34" charset="-120"/>
              </a:rPr>
              <a:t>+0.457</a:t>
            </a:r>
            <a:endParaRPr lang="en-US" sz="2800" dirty="0"/>
          </a:p>
        </p:txBody>
      </p:sp>
      <p:sp>
        <p:nvSpPr>
          <p:cNvPr id="14" name="Shape 12"/>
          <p:cNvSpPr/>
          <p:nvPr/>
        </p:nvSpPr>
        <p:spPr>
          <a:xfrm>
            <a:off x="320040" y="2148840"/>
            <a:ext cx="8503920" cy="1207008"/>
          </a:xfrm>
          <a:prstGeom prst="rect">
            <a:avLst/>
          </a:prstGeom>
          <a:solidFill>
            <a:srgbClr val="FFFFFF"/>
          </a:solidFill>
          <a:ln w="12700">
            <a:solidFill>
              <a:srgbClr val="CCCCDD"/>
            </a:solidFill>
            <a:prstDash val="solid"/>
          </a:ln>
          <a:effectLst>
            <a:outerShdw blurRad="50800" dist="25400" dir="8100000" algn="bl" rotWithShape="0">
              <a:srgbClr val="000000">
                <a:alpha val="6000"/>
              </a:srgbClr>
            </a:outerShdw>
          </a:effectLst>
        </p:spPr>
      </p:sp>
      <p:sp>
        <p:nvSpPr>
          <p:cNvPr id="15" name="Shape 13"/>
          <p:cNvSpPr/>
          <p:nvPr/>
        </p:nvSpPr>
        <p:spPr>
          <a:xfrm>
            <a:off x="320040" y="2148840"/>
            <a:ext cx="530352" cy="1207008"/>
          </a:xfrm>
          <a:prstGeom prst="rect">
            <a:avLst/>
          </a:prstGeom>
          <a:solidFill>
            <a:srgbClr val="1A1A2E"/>
          </a:solidFill>
          <a:ln w="12700">
            <a:solidFill>
              <a:srgbClr val="1A1A2E"/>
            </a:solidFill>
            <a:prstDash val="solid"/>
          </a:ln>
        </p:spPr>
      </p:sp>
      <p:sp>
        <p:nvSpPr>
          <p:cNvPr id="16" name="Text 14"/>
          <p:cNvSpPr/>
          <p:nvPr/>
        </p:nvSpPr>
        <p:spPr>
          <a:xfrm>
            <a:off x="320040" y="2148840"/>
            <a:ext cx="530352" cy="120700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H2</a:t>
            </a:r>
            <a:endParaRPr lang="en-US" sz="2000" dirty="0"/>
          </a:p>
        </p:txBody>
      </p:sp>
      <p:sp>
        <p:nvSpPr>
          <p:cNvPr id="17" name="Text 15"/>
          <p:cNvSpPr/>
          <p:nvPr/>
        </p:nvSpPr>
        <p:spPr>
          <a:xfrm>
            <a:off x="987552" y="2240280"/>
            <a:ext cx="4754880" cy="292608"/>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Constructor Features Improve Predictions</a:t>
            </a:r>
            <a:endParaRPr lang="en-US" sz="1400" dirty="0"/>
          </a:p>
        </p:txBody>
      </p:sp>
      <p:sp>
        <p:nvSpPr>
          <p:cNvPr id="18" name="Text 16"/>
          <p:cNvSpPr/>
          <p:nvPr/>
        </p:nvSpPr>
        <p:spPr>
          <a:xfrm>
            <a:off x="987552" y="2542032"/>
            <a:ext cx="3200400" cy="256032"/>
          </a:xfrm>
          <a:prstGeom prst="rect">
            <a:avLst/>
          </a:prstGeom>
          <a:noFill/>
          <a:ln/>
        </p:spPr>
        <p:txBody>
          <a:bodyPr wrap="square" rtlCol="0" anchor="ctr"/>
          <a:lstStyle/>
          <a:p>
            <a:pPr marL="0" indent="0">
              <a:buNone/>
            </a:pPr>
            <a:r>
              <a:rPr lang="en-US" sz="1200" b="1" dirty="0">
                <a:solidFill>
                  <a:srgbClr val="27AE60"/>
                </a:solidFill>
                <a:latin typeface="Calibri" pitchFamily="34" charset="0"/>
                <a:ea typeface="Calibri" pitchFamily="34" charset="-122"/>
                <a:cs typeface="Calibri" pitchFamily="34" charset="-120"/>
              </a:rPr>
              <a:t>✓  SUPPORTED</a:t>
            </a:r>
            <a:endParaRPr lang="en-US" sz="1200" dirty="0"/>
          </a:p>
        </p:txBody>
      </p:sp>
      <p:sp>
        <p:nvSpPr>
          <p:cNvPr id="19" name="Text 17"/>
          <p:cNvSpPr/>
          <p:nvPr/>
        </p:nvSpPr>
        <p:spPr>
          <a:xfrm>
            <a:off x="987552" y="2816352"/>
            <a:ext cx="4937760" cy="475488"/>
          </a:xfrm>
          <a:prstGeom prst="rect">
            <a:avLst/>
          </a:prstGeom>
          <a:noFill/>
          <a:ln/>
        </p:spPr>
        <p:txBody>
          <a:bodyPr wrap="square" rtlCol="0" anchor="ctr"/>
          <a:lstStyle/>
          <a:p>
            <a:pPr marL="0" indent="0">
              <a:buNone/>
            </a:pPr>
            <a:r>
              <a:rPr lang="en-US" sz="1000" dirty="0">
                <a:solidFill>
                  <a:srgbClr val="555566"/>
                </a:solidFill>
                <a:latin typeface="Calibri" pitchFamily="34" charset="0"/>
                <a:ea typeface="Calibri" pitchFamily="34" charset="-122"/>
                <a:cs typeface="Calibri" pitchFamily="34" charset="-120"/>
              </a:rPr>
              <a:t>Driver-only model (Random Forest) → F1 = 0.241</a:t>
            </a:r>
            <a:endParaRPr lang="en-US" sz="1000" dirty="0"/>
          </a:p>
          <a:p>
            <a:pPr marL="0" indent="0">
              <a:buNone/>
            </a:pPr>
            <a:r>
              <a:rPr lang="en-US" sz="1000" dirty="0">
                <a:solidFill>
                  <a:srgbClr val="555566"/>
                </a:solidFill>
                <a:latin typeface="Calibri" pitchFamily="34" charset="0"/>
                <a:ea typeface="Calibri" pitchFamily="34" charset="-122"/>
                <a:cs typeface="Calibri" pitchFamily="34" charset="-120"/>
              </a:rPr>
              <a:t>Full model (all features) → F1 = 0.383</a:t>
            </a:r>
            <a:endParaRPr lang="en-US" sz="1000" dirty="0"/>
          </a:p>
          <a:p>
            <a:pPr marL="0" indent="0">
              <a:buNone/>
            </a:pPr>
            <a:r>
              <a:rPr lang="en-US" sz="1000" dirty="0">
                <a:solidFill>
                  <a:srgbClr val="555566"/>
                </a:solidFill>
                <a:latin typeface="Calibri" pitchFamily="34" charset="0"/>
                <a:ea typeface="Calibri" pitchFamily="34" charset="-122"/>
                <a:cs typeface="Calibri" pitchFamily="34" charset="-120"/>
              </a:rPr>
              <a:t>Constructor variables contributed the most</a:t>
            </a:r>
            <a:endParaRPr lang="en-US" sz="1000" dirty="0"/>
          </a:p>
        </p:txBody>
      </p:sp>
      <p:sp>
        <p:nvSpPr>
          <p:cNvPr id="20" name="Shape 18"/>
          <p:cNvSpPr/>
          <p:nvPr/>
        </p:nvSpPr>
        <p:spPr>
          <a:xfrm>
            <a:off x="6217920" y="2258568"/>
            <a:ext cx="2423160" cy="987552"/>
          </a:xfrm>
          <a:prstGeom prst="rect">
            <a:avLst/>
          </a:prstGeom>
          <a:solidFill>
            <a:srgbClr val="F0FFF4"/>
          </a:solidFill>
          <a:ln w="12700">
            <a:solidFill>
              <a:srgbClr val="27AE60"/>
            </a:solidFill>
            <a:prstDash val="solid"/>
          </a:ln>
        </p:spPr>
      </p:sp>
      <p:sp>
        <p:nvSpPr>
          <p:cNvPr id="21" name="Text 19"/>
          <p:cNvSpPr/>
          <p:nvPr/>
        </p:nvSpPr>
        <p:spPr>
          <a:xfrm>
            <a:off x="6263640" y="2331720"/>
            <a:ext cx="2331720" cy="274320"/>
          </a:xfrm>
          <a:prstGeom prst="rect">
            <a:avLst/>
          </a:prstGeom>
          <a:noFill/>
          <a:ln/>
        </p:spPr>
        <p:txBody>
          <a:bodyPr wrap="square" rtlCol="0" anchor="ctr"/>
          <a:lstStyle/>
          <a:p>
            <a:pPr marL="0" indent="0" algn="ctr">
              <a:buNone/>
            </a:pPr>
            <a:r>
              <a:rPr lang="en-US" sz="1100" dirty="0">
                <a:solidFill>
                  <a:srgbClr val="1A6B3C"/>
                </a:solidFill>
                <a:latin typeface="Calibri" pitchFamily="34" charset="0"/>
                <a:ea typeface="Calibri" pitchFamily="34" charset="-122"/>
                <a:cs typeface="Calibri" pitchFamily="34" charset="-120"/>
              </a:rPr>
              <a:t>F1: 0.241 → 0.383</a:t>
            </a:r>
            <a:endParaRPr lang="en-US" sz="1100" dirty="0"/>
          </a:p>
        </p:txBody>
      </p:sp>
      <p:sp>
        <p:nvSpPr>
          <p:cNvPr id="22" name="Text 20"/>
          <p:cNvSpPr/>
          <p:nvPr/>
        </p:nvSpPr>
        <p:spPr>
          <a:xfrm>
            <a:off x="6263640" y="2624328"/>
            <a:ext cx="2331720" cy="457200"/>
          </a:xfrm>
          <a:prstGeom prst="rect">
            <a:avLst/>
          </a:prstGeom>
          <a:noFill/>
          <a:ln/>
        </p:spPr>
        <p:txBody>
          <a:bodyPr wrap="square" rtlCol="0" anchor="ctr"/>
          <a:lstStyle/>
          <a:p>
            <a:pPr marL="0" indent="0" algn="ctr">
              <a:buNone/>
            </a:pPr>
            <a:r>
              <a:rPr lang="en-US" sz="2800" b="1" dirty="0">
                <a:solidFill>
                  <a:srgbClr val="27AE60"/>
                </a:solidFill>
                <a:latin typeface="Calibri" pitchFamily="34" charset="0"/>
                <a:ea typeface="Calibri" pitchFamily="34" charset="-122"/>
                <a:cs typeface="Calibri" pitchFamily="34" charset="-120"/>
              </a:rPr>
              <a:t>+58.9%</a:t>
            </a:r>
            <a:endParaRPr lang="en-US" sz="2800" dirty="0"/>
          </a:p>
        </p:txBody>
      </p:sp>
      <p:sp>
        <p:nvSpPr>
          <p:cNvPr id="23" name="Shape 21"/>
          <p:cNvSpPr/>
          <p:nvPr/>
        </p:nvSpPr>
        <p:spPr>
          <a:xfrm>
            <a:off x="320040" y="3520440"/>
            <a:ext cx="8503920" cy="1207008"/>
          </a:xfrm>
          <a:prstGeom prst="rect">
            <a:avLst/>
          </a:prstGeom>
          <a:solidFill>
            <a:srgbClr val="FFFFFF"/>
          </a:solidFill>
          <a:ln w="12700">
            <a:solidFill>
              <a:srgbClr val="CCCCDD"/>
            </a:solidFill>
            <a:prstDash val="solid"/>
          </a:ln>
          <a:effectLst>
            <a:outerShdw blurRad="50800" dist="25400" dir="8100000" algn="bl" rotWithShape="0">
              <a:srgbClr val="000000">
                <a:alpha val="6000"/>
              </a:srgbClr>
            </a:outerShdw>
          </a:effectLst>
        </p:spPr>
      </p:sp>
      <p:sp>
        <p:nvSpPr>
          <p:cNvPr id="24" name="Shape 22"/>
          <p:cNvSpPr/>
          <p:nvPr/>
        </p:nvSpPr>
        <p:spPr>
          <a:xfrm>
            <a:off x="320040" y="3520440"/>
            <a:ext cx="530352" cy="1207008"/>
          </a:xfrm>
          <a:prstGeom prst="rect">
            <a:avLst/>
          </a:prstGeom>
          <a:solidFill>
            <a:srgbClr val="1A1A2E"/>
          </a:solidFill>
          <a:ln w="12700">
            <a:solidFill>
              <a:srgbClr val="1A1A2E"/>
            </a:solidFill>
            <a:prstDash val="solid"/>
          </a:ln>
        </p:spPr>
      </p:sp>
      <p:sp>
        <p:nvSpPr>
          <p:cNvPr id="25" name="Text 23"/>
          <p:cNvSpPr/>
          <p:nvPr/>
        </p:nvSpPr>
        <p:spPr>
          <a:xfrm>
            <a:off x="320040" y="3520440"/>
            <a:ext cx="530352" cy="120700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H3</a:t>
            </a:r>
            <a:endParaRPr lang="en-US" sz="2000" dirty="0"/>
          </a:p>
        </p:txBody>
      </p:sp>
      <p:sp>
        <p:nvSpPr>
          <p:cNvPr id="26" name="Text 24"/>
          <p:cNvSpPr/>
          <p:nvPr/>
        </p:nvSpPr>
        <p:spPr>
          <a:xfrm>
            <a:off x="987552" y="3611880"/>
            <a:ext cx="4754880" cy="292608"/>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Tree-Based Ensembles &gt; Logistic Regression</a:t>
            </a:r>
            <a:endParaRPr lang="en-US" sz="1400" dirty="0"/>
          </a:p>
        </p:txBody>
      </p:sp>
      <p:sp>
        <p:nvSpPr>
          <p:cNvPr id="27" name="Text 25"/>
          <p:cNvSpPr/>
          <p:nvPr/>
        </p:nvSpPr>
        <p:spPr>
          <a:xfrm>
            <a:off x="987552" y="3913632"/>
            <a:ext cx="3200400" cy="256032"/>
          </a:xfrm>
          <a:prstGeom prst="rect">
            <a:avLst/>
          </a:prstGeom>
          <a:noFill/>
          <a:ln/>
        </p:spPr>
        <p:txBody>
          <a:bodyPr wrap="square" rtlCol="0" anchor="ctr"/>
          <a:lstStyle/>
          <a:p>
            <a:pPr marL="0" indent="0">
              <a:buNone/>
            </a:pPr>
            <a:r>
              <a:rPr lang="en-US" sz="1200" b="1" dirty="0">
                <a:solidFill>
                  <a:srgbClr val="27AE60"/>
                </a:solidFill>
                <a:latin typeface="Calibri" pitchFamily="34" charset="0"/>
                <a:ea typeface="Calibri" pitchFamily="34" charset="-122"/>
                <a:cs typeface="Calibri" pitchFamily="34" charset="-120"/>
              </a:rPr>
              <a:t>✓  SUPPORTED</a:t>
            </a:r>
            <a:endParaRPr lang="en-US" sz="1200" dirty="0"/>
          </a:p>
        </p:txBody>
      </p:sp>
      <p:sp>
        <p:nvSpPr>
          <p:cNvPr id="28" name="Text 26"/>
          <p:cNvSpPr/>
          <p:nvPr/>
        </p:nvSpPr>
        <p:spPr>
          <a:xfrm>
            <a:off x="987552" y="4187952"/>
            <a:ext cx="4937760" cy="475488"/>
          </a:xfrm>
          <a:prstGeom prst="rect">
            <a:avLst/>
          </a:prstGeom>
          <a:noFill/>
          <a:ln/>
        </p:spPr>
        <p:txBody>
          <a:bodyPr wrap="square" rtlCol="0" anchor="ctr"/>
          <a:lstStyle/>
          <a:p>
            <a:pPr marL="0" indent="0">
              <a:buNone/>
            </a:pPr>
            <a:r>
              <a:rPr lang="en-US" sz="1000" dirty="0">
                <a:solidFill>
                  <a:srgbClr val="555566"/>
                </a:solidFill>
                <a:latin typeface="Calibri" pitchFamily="34" charset="0"/>
                <a:ea typeface="Calibri" pitchFamily="34" charset="-122"/>
                <a:cs typeface="Calibri" pitchFamily="34" charset="-120"/>
              </a:rPr>
              <a:t>Logistic Regression → F1 = 0.333</a:t>
            </a:r>
            <a:endParaRPr lang="en-US" sz="1000" dirty="0"/>
          </a:p>
          <a:p>
            <a:pPr marL="0" indent="0">
              <a:buNone/>
            </a:pPr>
            <a:r>
              <a:rPr lang="en-US" sz="1000" dirty="0">
                <a:solidFill>
                  <a:srgbClr val="555566"/>
                </a:solidFill>
                <a:latin typeface="Calibri" pitchFamily="34" charset="0"/>
                <a:ea typeface="Calibri" pitchFamily="34" charset="-122"/>
                <a:cs typeface="Calibri" pitchFamily="34" charset="-120"/>
              </a:rPr>
              <a:t>XGBoost → F1 = 0.457</a:t>
            </a:r>
            <a:endParaRPr lang="en-US" sz="1000" dirty="0"/>
          </a:p>
          <a:p>
            <a:pPr marL="0" indent="0">
              <a:buNone/>
            </a:pPr>
            <a:r>
              <a:rPr lang="en-US" sz="1000" dirty="0">
                <a:solidFill>
                  <a:srgbClr val="555566"/>
                </a:solidFill>
                <a:latin typeface="Calibri" pitchFamily="34" charset="0"/>
                <a:ea typeface="Calibri" pitchFamily="34" charset="-122"/>
                <a:cs typeface="Calibri" pitchFamily="34" charset="-120"/>
              </a:rPr>
              <a:t>Random Forest → best race-level accuracy (0.417)</a:t>
            </a:r>
            <a:endParaRPr lang="en-US" sz="1000" dirty="0"/>
          </a:p>
        </p:txBody>
      </p:sp>
      <p:sp>
        <p:nvSpPr>
          <p:cNvPr id="29" name="Shape 27"/>
          <p:cNvSpPr/>
          <p:nvPr/>
        </p:nvSpPr>
        <p:spPr>
          <a:xfrm>
            <a:off x="6217920" y="3630168"/>
            <a:ext cx="2423160" cy="987552"/>
          </a:xfrm>
          <a:prstGeom prst="rect">
            <a:avLst/>
          </a:prstGeom>
          <a:solidFill>
            <a:srgbClr val="F0FFF4"/>
          </a:solidFill>
          <a:ln w="12700">
            <a:solidFill>
              <a:srgbClr val="27AE60"/>
            </a:solidFill>
            <a:prstDash val="solid"/>
          </a:ln>
        </p:spPr>
      </p:sp>
      <p:sp>
        <p:nvSpPr>
          <p:cNvPr id="30" name="Text 28"/>
          <p:cNvSpPr/>
          <p:nvPr/>
        </p:nvSpPr>
        <p:spPr>
          <a:xfrm>
            <a:off x="6263640" y="3703320"/>
            <a:ext cx="2331720" cy="274320"/>
          </a:xfrm>
          <a:prstGeom prst="rect">
            <a:avLst/>
          </a:prstGeom>
          <a:noFill/>
          <a:ln/>
        </p:spPr>
        <p:txBody>
          <a:bodyPr wrap="square" rtlCol="0" anchor="ctr"/>
          <a:lstStyle/>
          <a:p>
            <a:pPr marL="0" indent="0" algn="ctr">
              <a:buNone/>
            </a:pPr>
            <a:r>
              <a:rPr lang="en-US" sz="1100" dirty="0">
                <a:solidFill>
                  <a:srgbClr val="1A6B3C"/>
                </a:solidFill>
                <a:latin typeface="Calibri" pitchFamily="34" charset="0"/>
                <a:ea typeface="Calibri" pitchFamily="34" charset="-122"/>
                <a:cs typeface="Calibri" pitchFamily="34" charset="-120"/>
              </a:rPr>
              <a:t>F1: 0.333 → 0.457</a:t>
            </a:r>
            <a:endParaRPr lang="en-US" sz="1100" dirty="0"/>
          </a:p>
        </p:txBody>
      </p:sp>
      <p:sp>
        <p:nvSpPr>
          <p:cNvPr id="31" name="Text 29"/>
          <p:cNvSpPr/>
          <p:nvPr/>
        </p:nvSpPr>
        <p:spPr>
          <a:xfrm>
            <a:off x="6263640" y="3995928"/>
            <a:ext cx="2331720" cy="457200"/>
          </a:xfrm>
          <a:prstGeom prst="rect">
            <a:avLst/>
          </a:prstGeom>
          <a:noFill/>
          <a:ln/>
        </p:spPr>
        <p:txBody>
          <a:bodyPr wrap="square" rtlCol="0" anchor="ctr"/>
          <a:lstStyle/>
          <a:p>
            <a:pPr marL="0" indent="0" algn="ctr">
              <a:buNone/>
            </a:pPr>
            <a:r>
              <a:rPr lang="en-US" sz="2800" b="1" dirty="0">
                <a:solidFill>
                  <a:srgbClr val="27AE60"/>
                </a:solidFill>
                <a:latin typeface="Calibri" pitchFamily="34" charset="0"/>
                <a:ea typeface="Calibri" pitchFamily="34" charset="-122"/>
                <a:cs typeface="Calibri" pitchFamily="34" charset="-120"/>
              </a:rPr>
              <a:t>+37.1%</a:t>
            </a:r>
            <a:endParaRPr lang="en-US" sz="2800" dirty="0"/>
          </a:p>
        </p:txBody>
      </p:sp>
      <p:sp>
        <p:nvSpPr>
          <p:cNvPr id="32" name="Text 30"/>
          <p:cNvSpPr/>
          <p:nvPr/>
        </p:nvSpPr>
        <p:spPr>
          <a:xfrm>
            <a:off x="8778240" y="4846320"/>
            <a:ext cx="274320" cy="182880"/>
          </a:xfrm>
          <a:prstGeom prst="rect">
            <a:avLst/>
          </a:prstGeom>
          <a:noFill/>
          <a:ln/>
        </p:spPr>
        <p:txBody>
          <a:bodyPr wrap="square" rtlCol="0" anchor="ctr"/>
          <a:lstStyle/>
          <a:p>
            <a:pPr marL="0" indent="0" algn="ctr">
              <a:buNone/>
            </a:pPr>
            <a:r>
              <a:rPr lang="en-US" sz="1000" dirty="0">
                <a:solidFill>
                  <a:srgbClr val="A0A0B0"/>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6213E"/>
          </a:solidFill>
          <a:ln w="12700">
            <a:solidFill>
              <a:srgbClr val="16213E"/>
            </a:solidFill>
            <a:prstDash val="solid"/>
          </a:ln>
        </p:spPr>
      </p:sp>
      <p:sp>
        <p:nvSpPr>
          <p:cNvPr id="3" name="Shape 1"/>
          <p:cNvSpPr/>
          <p:nvPr/>
        </p:nvSpPr>
        <p:spPr>
          <a:xfrm>
            <a:off x="0" y="0"/>
            <a:ext cx="164592" cy="640080"/>
          </a:xfrm>
          <a:prstGeom prst="rect">
            <a:avLst/>
          </a:prstGeom>
          <a:solidFill>
            <a:srgbClr val="CC0000"/>
          </a:solidFill>
          <a:ln w="12700">
            <a:solidFill>
              <a:srgbClr val="CC0000"/>
            </a:solidFill>
            <a:prstDash val="solid"/>
          </a:ln>
        </p:spPr>
      </p:sp>
      <p:sp>
        <p:nvSpPr>
          <p:cNvPr id="4" name="Text 2"/>
          <p:cNvSpPr/>
          <p:nvPr/>
        </p:nvSpPr>
        <p:spPr>
          <a:xfrm>
            <a:off x="320040" y="91440"/>
            <a:ext cx="841248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Discussion &amp; Limitations</a:t>
            </a:r>
            <a:endParaRPr lang="en-US" sz="2200" dirty="0"/>
          </a:p>
        </p:txBody>
      </p:sp>
      <p:sp>
        <p:nvSpPr>
          <p:cNvPr id="5" name="Shape 3"/>
          <p:cNvSpPr/>
          <p:nvPr/>
        </p:nvSpPr>
        <p:spPr>
          <a:xfrm>
            <a:off x="320040" y="749808"/>
            <a:ext cx="8503920" cy="1024128"/>
          </a:xfrm>
          <a:prstGeom prst="rect">
            <a:avLst/>
          </a:prstGeom>
          <a:solidFill>
            <a:srgbClr val="0F3460"/>
          </a:solidFill>
          <a:ln w="12700">
            <a:solidFill>
              <a:srgbClr val="2A4F8A"/>
            </a:solidFill>
            <a:prstDash val="solid"/>
          </a:ln>
        </p:spPr>
      </p:sp>
      <p:sp>
        <p:nvSpPr>
          <p:cNvPr id="6" name="Text 4"/>
          <p:cNvSpPr/>
          <p:nvPr/>
        </p:nvSpPr>
        <p:spPr>
          <a:xfrm>
            <a:off x="548640" y="804672"/>
            <a:ext cx="8229600" cy="292608"/>
          </a:xfrm>
          <a:prstGeom prst="rect">
            <a:avLst/>
          </a:prstGeom>
          <a:noFill/>
          <a:ln/>
        </p:spPr>
        <p:txBody>
          <a:bodyPr wrap="square" rtlCol="0" anchor="ctr"/>
          <a:lstStyle/>
          <a:p>
            <a:pPr marL="0" indent="0">
              <a:buNone/>
            </a:pPr>
            <a:r>
              <a:rPr lang="en-US" sz="1400" b="1" dirty="0">
                <a:solidFill>
                  <a:srgbClr val="E94560"/>
                </a:solidFill>
                <a:latin typeface="Calibri" pitchFamily="34" charset="0"/>
                <a:ea typeface="Calibri" pitchFamily="34" charset="-122"/>
                <a:cs typeface="Calibri" pitchFamily="34" charset="-120"/>
              </a:rPr>
              <a:t>Why XGBoost wins at row-level but Random Forest wins at race-level</a:t>
            </a:r>
            <a:endParaRPr lang="en-US" sz="1400" dirty="0"/>
          </a:p>
        </p:txBody>
      </p:sp>
      <p:sp>
        <p:nvSpPr>
          <p:cNvPr id="7" name="Text 5"/>
          <p:cNvSpPr/>
          <p:nvPr/>
        </p:nvSpPr>
        <p:spPr>
          <a:xfrm>
            <a:off x="548640" y="1115568"/>
            <a:ext cx="8229600" cy="566928"/>
          </a:xfrm>
          <a:prstGeom prst="rect">
            <a:avLst/>
          </a:prstGeom>
          <a:noFill/>
          <a:ln/>
        </p:spPr>
        <p:txBody>
          <a:bodyPr wrap="square" rtlCol="0" anchor="ctr"/>
          <a:lstStyle/>
          <a:p>
            <a:pPr marL="0" indent="0">
              <a:buNone/>
            </a:pPr>
            <a:r>
              <a:rPr lang="en-US" sz="1100" dirty="0">
                <a:solidFill>
                  <a:srgbClr val="D0D0E0"/>
                </a:solidFill>
                <a:latin typeface="Calibri" pitchFamily="34" charset="0"/>
                <a:ea typeface="Calibri" pitchFamily="34" charset="-122"/>
                <a:cs typeface="Calibri" pitchFamily="34" charset="-120"/>
              </a:rPr>
              <a:t>XGBoost has higher recall (0.667) — it identifies more winning entries, but lower precision (0.348) means more false positives. When selecting the single most confident prediction per race, XGBoost sometimes chooses wrongly. Random Forest, with lower recall but higher precision, makes safer race-level selections — more conservative but more accurate at the final pick.</a:t>
            </a:r>
            <a:endParaRPr lang="en-US" sz="1100" dirty="0"/>
          </a:p>
        </p:txBody>
      </p:sp>
      <p:sp>
        <p:nvSpPr>
          <p:cNvPr id="8" name="Text 6"/>
          <p:cNvSpPr/>
          <p:nvPr/>
        </p:nvSpPr>
        <p:spPr>
          <a:xfrm>
            <a:off x="320040" y="1920240"/>
            <a:ext cx="41148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Limitations</a:t>
            </a:r>
            <a:endParaRPr lang="en-US" sz="1400" dirty="0"/>
          </a:p>
        </p:txBody>
      </p:sp>
      <p:sp>
        <p:nvSpPr>
          <p:cNvPr id="9" name="Shape 7"/>
          <p:cNvSpPr/>
          <p:nvPr/>
        </p:nvSpPr>
        <p:spPr>
          <a:xfrm>
            <a:off x="320040" y="2304288"/>
            <a:ext cx="4069080" cy="475488"/>
          </a:xfrm>
          <a:prstGeom prst="rect">
            <a:avLst/>
          </a:prstGeom>
          <a:solidFill>
            <a:srgbClr val="16213E"/>
          </a:solidFill>
          <a:ln w="12700">
            <a:solidFill>
              <a:srgbClr val="3A4F7A"/>
            </a:solidFill>
            <a:prstDash val="solid"/>
          </a:ln>
        </p:spPr>
      </p:sp>
      <p:sp>
        <p:nvSpPr>
          <p:cNvPr id="10" name="Text 8"/>
          <p:cNvSpPr/>
          <p:nvPr/>
        </p:nvSpPr>
        <p:spPr>
          <a:xfrm>
            <a:off x="384048" y="2331720"/>
            <a:ext cx="320040" cy="347472"/>
          </a:xfrm>
          <a:prstGeom prst="rect">
            <a:avLst/>
          </a:prstGeom>
          <a:noFill/>
          <a:ln/>
        </p:spPr>
        <p:txBody>
          <a:bodyPr wrap="square" rtlCol="0" anchor="ctr"/>
          <a:lstStyle/>
          <a:p>
            <a:pPr marL="0" indent="0" algn="ctr">
              <a:buNone/>
            </a:pPr>
            <a:r>
              <a:rPr lang="en-US" sz="1400" dirty="0">
                <a:solidFill>
                  <a:srgbClr val="F1C40F"/>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731520" y="2331720"/>
            <a:ext cx="35204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Pre-race data only — no live telemetry, pit stops, or safety car events</a:t>
            </a:r>
            <a:endParaRPr lang="en-US" sz="1050" dirty="0"/>
          </a:p>
        </p:txBody>
      </p:sp>
      <p:sp>
        <p:nvSpPr>
          <p:cNvPr id="12" name="Shape 10"/>
          <p:cNvSpPr/>
          <p:nvPr/>
        </p:nvSpPr>
        <p:spPr>
          <a:xfrm>
            <a:off x="320040" y="2871216"/>
            <a:ext cx="4069080" cy="475488"/>
          </a:xfrm>
          <a:prstGeom prst="rect">
            <a:avLst/>
          </a:prstGeom>
          <a:solidFill>
            <a:srgbClr val="16213E"/>
          </a:solidFill>
          <a:ln w="12700">
            <a:solidFill>
              <a:srgbClr val="3A4F7A"/>
            </a:solidFill>
            <a:prstDash val="solid"/>
          </a:ln>
        </p:spPr>
      </p:sp>
      <p:sp>
        <p:nvSpPr>
          <p:cNvPr id="13" name="Text 11"/>
          <p:cNvSpPr/>
          <p:nvPr/>
        </p:nvSpPr>
        <p:spPr>
          <a:xfrm>
            <a:off x="384048" y="2898648"/>
            <a:ext cx="320040" cy="347472"/>
          </a:xfrm>
          <a:prstGeom prst="rect">
            <a:avLst/>
          </a:prstGeom>
          <a:noFill/>
          <a:ln/>
        </p:spPr>
        <p:txBody>
          <a:bodyPr wrap="square" rtlCol="0" anchor="ctr"/>
          <a:lstStyle/>
          <a:p>
            <a:pPr marL="0" indent="0" algn="ctr">
              <a:buNone/>
            </a:pPr>
            <a:r>
              <a:rPr lang="en-US" sz="1400" dirty="0">
                <a:solidFill>
                  <a:srgbClr val="F1C40F"/>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731520" y="2898648"/>
            <a:ext cx="35204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Severe class imbalance (~5% winners) even with class weighting</a:t>
            </a:r>
            <a:endParaRPr lang="en-US" sz="1050" dirty="0"/>
          </a:p>
        </p:txBody>
      </p:sp>
      <p:sp>
        <p:nvSpPr>
          <p:cNvPr id="15" name="Shape 13"/>
          <p:cNvSpPr/>
          <p:nvPr/>
        </p:nvSpPr>
        <p:spPr>
          <a:xfrm>
            <a:off x="320040" y="3438144"/>
            <a:ext cx="4069080" cy="475488"/>
          </a:xfrm>
          <a:prstGeom prst="rect">
            <a:avLst/>
          </a:prstGeom>
          <a:solidFill>
            <a:srgbClr val="16213E"/>
          </a:solidFill>
          <a:ln w="12700">
            <a:solidFill>
              <a:srgbClr val="3A4F7A"/>
            </a:solidFill>
            <a:prstDash val="solid"/>
          </a:ln>
        </p:spPr>
      </p:sp>
      <p:sp>
        <p:nvSpPr>
          <p:cNvPr id="16" name="Text 14"/>
          <p:cNvSpPr/>
          <p:nvPr/>
        </p:nvSpPr>
        <p:spPr>
          <a:xfrm>
            <a:off x="384048" y="3465576"/>
            <a:ext cx="320040" cy="347472"/>
          </a:xfrm>
          <a:prstGeom prst="rect">
            <a:avLst/>
          </a:prstGeom>
          <a:noFill/>
          <a:ln/>
        </p:spPr>
        <p:txBody>
          <a:bodyPr wrap="square" rtlCol="0" anchor="ctr"/>
          <a:lstStyle/>
          <a:p>
            <a:pPr marL="0" indent="0" algn="ctr">
              <a:buNone/>
            </a:pPr>
            <a:r>
              <a:rPr lang="en-US" sz="1400" dirty="0">
                <a:solidFill>
                  <a:srgbClr val="F1C40F"/>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731520" y="3465576"/>
            <a:ext cx="35204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Weather encoded as binary (dry/wet) — no rain intensity or track temperature</a:t>
            </a:r>
            <a:endParaRPr lang="en-US" sz="1050" dirty="0"/>
          </a:p>
        </p:txBody>
      </p:sp>
      <p:sp>
        <p:nvSpPr>
          <p:cNvPr id="18" name="Shape 16"/>
          <p:cNvSpPr/>
          <p:nvPr/>
        </p:nvSpPr>
        <p:spPr>
          <a:xfrm>
            <a:off x="320040" y="4005072"/>
            <a:ext cx="4069080" cy="475488"/>
          </a:xfrm>
          <a:prstGeom prst="rect">
            <a:avLst/>
          </a:prstGeom>
          <a:solidFill>
            <a:srgbClr val="16213E"/>
          </a:solidFill>
          <a:ln w="12700">
            <a:solidFill>
              <a:srgbClr val="3A4F7A"/>
            </a:solidFill>
            <a:prstDash val="solid"/>
          </a:ln>
        </p:spPr>
      </p:sp>
      <p:sp>
        <p:nvSpPr>
          <p:cNvPr id="19" name="Text 17"/>
          <p:cNvSpPr/>
          <p:nvPr/>
        </p:nvSpPr>
        <p:spPr>
          <a:xfrm>
            <a:off x="384048" y="4032504"/>
            <a:ext cx="320040" cy="347472"/>
          </a:xfrm>
          <a:prstGeom prst="rect">
            <a:avLst/>
          </a:prstGeom>
          <a:noFill/>
          <a:ln/>
        </p:spPr>
        <p:txBody>
          <a:bodyPr wrap="square" rtlCol="0" anchor="ctr"/>
          <a:lstStyle/>
          <a:p>
            <a:pPr marL="0" indent="0" algn="ctr">
              <a:buNone/>
            </a:pPr>
            <a:r>
              <a:rPr lang="en-US" sz="1400" dirty="0">
                <a:solidFill>
                  <a:srgbClr val="F1C40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731520" y="4032504"/>
            <a:ext cx="35204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Trained on hybrid-era stability — may not generalise to 2026 rule changes</a:t>
            </a:r>
            <a:endParaRPr lang="en-US" sz="1050" dirty="0"/>
          </a:p>
        </p:txBody>
      </p:sp>
      <p:sp>
        <p:nvSpPr>
          <p:cNvPr id="21" name="Text 19"/>
          <p:cNvSpPr/>
          <p:nvPr/>
        </p:nvSpPr>
        <p:spPr>
          <a:xfrm>
            <a:off x="4754880" y="1920240"/>
            <a:ext cx="41148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Future Directions</a:t>
            </a:r>
            <a:endParaRPr lang="en-US" sz="1400" dirty="0"/>
          </a:p>
        </p:txBody>
      </p:sp>
      <p:sp>
        <p:nvSpPr>
          <p:cNvPr id="22" name="Shape 20"/>
          <p:cNvSpPr/>
          <p:nvPr/>
        </p:nvSpPr>
        <p:spPr>
          <a:xfrm>
            <a:off x="4754880" y="2368296"/>
            <a:ext cx="228600" cy="228600"/>
          </a:xfrm>
          <a:prstGeom prst="ellipse">
            <a:avLst/>
          </a:prstGeom>
          <a:solidFill>
            <a:srgbClr val="27AE60"/>
          </a:solidFill>
          <a:ln w="12700">
            <a:solidFill>
              <a:srgbClr val="27AE60"/>
            </a:solidFill>
            <a:prstDash val="solid"/>
          </a:ln>
        </p:spPr>
      </p:sp>
      <p:sp>
        <p:nvSpPr>
          <p:cNvPr id="23" name="Text 21"/>
          <p:cNvSpPr/>
          <p:nvPr/>
        </p:nvSpPr>
        <p:spPr>
          <a:xfrm>
            <a:off x="5074920" y="2350008"/>
            <a:ext cx="37490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Integrate lap-time telemetry and tire degradation data</a:t>
            </a:r>
            <a:endParaRPr lang="en-US" sz="1050" dirty="0"/>
          </a:p>
        </p:txBody>
      </p:sp>
      <p:sp>
        <p:nvSpPr>
          <p:cNvPr id="24" name="Shape 22"/>
          <p:cNvSpPr/>
          <p:nvPr/>
        </p:nvSpPr>
        <p:spPr>
          <a:xfrm>
            <a:off x="4754880" y="2935224"/>
            <a:ext cx="228600" cy="228600"/>
          </a:xfrm>
          <a:prstGeom prst="ellipse">
            <a:avLst/>
          </a:prstGeom>
          <a:solidFill>
            <a:srgbClr val="27AE60"/>
          </a:solidFill>
          <a:ln w="12700">
            <a:solidFill>
              <a:srgbClr val="27AE60"/>
            </a:solidFill>
            <a:prstDash val="solid"/>
          </a:ln>
        </p:spPr>
      </p:sp>
      <p:sp>
        <p:nvSpPr>
          <p:cNvPr id="25" name="Text 23"/>
          <p:cNvSpPr/>
          <p:nvPr/>
        </p:nvSpPr>
        <p:spPr>
          <a:xfrm>
            <a:off x="5074920" y="2916936"/>
            <a:ext cx="37490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Apply LSTM / Transformer models for sequential season data</a:t>
            </a:r>
            <a:endParaRPr lang="en-US" sz="1050" dirty="0"/>
          </a:p>
        </p:txBody>
      </p:sp>
      <p:sp>
        <p:nvSpPr>
          <p:cNvPr id="26" name="Shape 24"/>
          <p:cNvSpPr/>
          <p:nvPr/>
        </p:nvSpPr>
        <p:spPr>
          <a:xfrm>
            <a:off x="4754880" y="3502152"/>
            <a:ext cx="228600" cy="228600"/>
          </a:xfrm>
          <a:prstGeom prst="ellipse">
            <a:avLst/>
          </a:prstGeom>
          <a:solidFill>
            <a:srgbClr val="27AE60"/>
          </a:solidFill>
          <a:ln w="12700">
            <a:solidFill>
              <a:srgbClr val="27AE60"/>
            </a:solidFill>
            <a:prstDash val="solid"/>
          </a:ln>
        </p:spPr>
      </p:sp>
      <p:sp>
        <p:nvSpPr>
          <p:cNvPr id="27" name="Text 25"/>
          <p:cNvSpPr/>
          <p:nvPr/>
        </p:nvSpPr>
        <p:spPr>
          <a:xfrm>
            <a:off x="5074920" y="3483864"/>
            <a:ext cx="37490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Ensemble combining XGBoost recall + RF precision</a:t>
            </a:r>
            <a:endParaRPr lang="en-US" sz="1050" dirty="0"/>
          </a:p>
        </p:txBody>
      </p:sp>
      <p:sp>
        <p:nvSpPr>
          <p:cNvPr id="28" name="Shape 26"/>
          <p:cNvSpPr/>
          <p:nvPr/>
        </p:nvSpPr>
        <p:spPr>
          <a:xfrm>
            <a:off x="4754880" y="4069080"/>
            <a:ext cx="228600" cy="228600"/>
          </a:xfrm>
          <a:prstGeom prst="ellipse">
            <a:avLst/>
          </a:prstGeom>
          <a:solidFill>
            <a:srgbClr val="27AE60"/>
          </a:solidFill>
          <a:ln w="12700">
            <a:solidFill>
              <a:srgbClr val="27AE60"/>
            </a:solidFill>
            <a:prstDash val="solid"/>
          </a:ln>
        </p:spPr>
      </p:sp>
      <p:sp>
        <p:nvSpPr>
          <p:cNvPr id="29" name="Text 27"/>
          <p:cNvSpPr/>
          <p:nvPr/>
        </p:nvSpPr>
        <p:spPr>
          <a:xfrm>
            <a:off x="5074920" y="4050792"/>
            <a:ext cx="3749040" cy="347472"/>
          </a:xfrm>
          <a:prstGeom prst="rect">
            <a:avLst/>
          </a:prstGeom>
          <a:noFill/>
          <a:ln/>
        </p:spPr>
        <p:txBody>
          <a:bodyPr wrap="square" rtlCol="0" anchor="ctr"/>
          <a:lstStyle/>
          <a:p>
            <a:pPr marL="0" indent="0">
              <a:buNone/>
            </a:pPr>
            <a:r>
              <a:rPr lang="en-US" sz="1050" dirty="0">
                <a:solidFill>
                  <a:srgbClr val="D0D0E0"/>
                </a:solidFill>
                <a:latin typeface="Calibri" pitchFamily="34" charset="0"/>
                <a:ea typeface="Calibri" pitchFamily="34" charset="-122"/>
                <a:cs typeface="Calibri" pitchFamily="34" charset="-120"/>
              </a:rPr>
              <a:t>Evaluate cross-year generalisation (train 2014–22, test 2023+24)</a:t>
            </a:r>
            <a:endParaRPr lang="en-US" sz="1050" dirty="0"/>
          </a:p>
        </p:txBody>
      </p:sp>
      <p:sp>
        <p:nvSpPr>
          <p:cNvPr id="30" name="Text 28"/>
          <p:cNvSpPr/>
          <p:nvPr/>
        </p:nvSpPr>
        <p:spPr>
          <a:xfrm>
            <a:off x="8778240" y="4846320"/>
            <a:ext cx="274320" cy="182880"/>
          </a:xfrm>
          <a:prstGeom prst="rect">
            <a:avLst/>
          </a:prstGeom>
          <a:noFill/>
          <a:ln/>
        </p:spPr>
        <p:txBody>
          <a:bodyPr wrap="square" rtlCol="0" anchor="ctr"/>
          <a:lstStyle/>
          <a:p>
            <a:pPr marL="0" indent="0" algn="ctr">
              <a:buNone/>
            </a:pPr>
            <a:r>
              <a:rPr lang="en-US" sz="1000" dirty="0">
                <a:solidFill>
                  <a:srgbClr val="A0A0B0"/>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C0000"/>
          </a:solidFill>
          <a:ln w="12700">
            <a:solidFill>
              <a:srgbClr val="CC0000"/>
            </a:solidFill>
            <a:prstDash val="solid"/>
          </a:ln>
        </p:spPr>
      </p:sp>
      <p:sp>
        <p:nvSpPr>
          <p:cNvPr id="3" name="Text 1"/>
          <p:cNvSpPr/>
          <p:nvPr/>
        </p:nvSpPr>
        <p:spPr>
          <a:xfrm>
            <a:off x="365760" y="274320"/>
            <a:ext cx="8412480" cy="5029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4" name="Shape 2"/>
          <p:cNvSpPr/>
          <p:nvPr/>
        </p:nvSpPr>
        <p:spPr>
          <a:xfrm>
            <a:off x="365760" y="914400"/>
            <a:ext cx="8412480" cy="640080"/>
          </a:xfrm>
          <a:prstGeom prst="rect">
            <a:avLst/>
          </a:prstGeom>
          <a:solidFill>
            <a:srgbClr val="E94560"/>
          </a:solidFill>
          <a:ln w="12700">
            <a:solidFill>
              <a:srgbClr val="E94560"/>
            </a:solidFill>
            <a:prstDash val="solid"/>
          </a:ln>
        </p:spPr>
      </p:sp>
      <p:sp>
        <p:nvSpPr>
          <p:cNvPr id="5" name="Text 3"/>
          <p:cNvSpPr/>
          <p:nvPr/>
        </p:nvSpPr>
        <p:spPr>
          <a:xfrm>
            <a:off x="548640" y="987552"/>
            <a:ext cx="8046720" cy="49377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Answer: ML can predict F1 winners with moderate accuracy — best row-level F1: 0.457 (XGBoost); best race accuracy: 41.7% (Random Forest). All three hypotheses supported.</a:t>
            </a:r>
            <a:endParaRPr lang="en-US" sz="1200" dirty="0"/>
          </a:p>
        </p:txBody>
      </p:sp>
      <p:sp>
        <p:nvSpPr>
          <p:cNvPr id="6" name="Shape 4"/>
          <p:cNvSpPr/>
          <p:nvPr/>
        </p:nvSpPr>
        <p:spPr>
          <a:xfrm>
            <a:off x="365760" y="1719072"/>
            <a:ext cx="1965960" cy="1097280"/>
          </a:xfrm>
          <a:prstGeom prst="rect">
            <a:avLst/>
          </a:prstGeom>
          <a:solidFill>
            <a:srgbClr val="0F3460"/>
          </a:solidFill>
          <a:ln w="12700">
            <a:solidFill>
              <a:srgbClr val="2A4F8A"/>
            </a:solidFill>
            <a:prstDash val="solid"/>
          </a:ln>
        </p:spPr>
      </p:sp>
      <p:sp>
        <p:nvSpPr>
          <p:cNvPr id="7" name="Text 5"/>
          <p:cNvSpPr/>
          <p:nvPr/>
        </p:nvSpPr>
        <p:spPr>
          <a:xfrm>
            <a:off x="365760" y="1773936"/>
            <a:ext cx="1965960" cy="475488"/>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0.457</a:t>
            </a:r>
            <a:endParaRPr lang="en-US" sz="2600" dirty="0"/>
          </a:p>
        </p:txBody>
      </p:sp>
      <p:sp>
        <p:nvSpPr>
          <p:cNvPr id="8" name="Text 6"/>
          <p:cNvSpPr/>
          <p:nvPr/>
        </p:nvSpPr>
        <p:spPr>
          <a:xfrm>
            <a:off x="365760" y="2231136"/>
            <a:ext cx="1965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Best F1-Score</a:t>
            </a:r>
            <a:endParaRPr lang="en-US" sz="1100" dirty="0"/>
          </a:p>
        </p:txBody>
      </p:sp>
      <p:sp>
        <p:nvSpPr>
          <p:cNvPr id="9" name="Text 7"/>
          <p:cNvSpPr/>
          <p:nvPr/>
        </p:nvSpPr>
        <p:spPr>
          <a:xfrm>
            <a:off x="365760" y="2487168"/>
            <a:ext cx="1965960" cy="201168"/>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XGBoost (row-level)</a:t>
            </a:r>
            <a:endParaRPr lang="en-US" sz="900" dirty="0"/>
          </a:p>
        </p:txBody>
      </p:sp>
      <p:sp>
        <p:nvSpPr>
          <p:cNvPr id="10" name="Shape 8"/>
          <p:cNvSpPr/>
          <p:nvPr/>
        </p:nvSpPr>
        <p:spPr>
          <a:xfrm>
            <a:off x="2514600" y="1719072"/>
            <a:ext cx="1965960" cy="1097280"/>
          </a:xfrm>
          <a:prstGeom prst="rect">
            <a:avLst/>
          </a:prstGeom>
          <a:solidFill>
            <a:srgbClr val="0F3460"/>
          </a:solidFill>
          <a:ln w="12700">
            <a:solidFill>
              <a:srgbClr val="2A4F8A"/>
            </a:solidFill>
            <a:prstDash val="solid"/>
          </a:ln>
        </p:spPr>
      </p:sp>
      <p:sp>
        <p:nvSpPr>
          <p:cNvPr id="11" name="Text 9"/>
          <p:cNvSpPr/>
          <p:nvPr/>
        </p:nvSpPr>
        <p:spPr>
          <a:xfrm>
            <a:off x="2514600" y="1773936"/>
            <a:ext cx="1965960" cy="475488"/>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41.7%</a:t>
            </a:r>
            <a:endParaRPr lang="en-US" sz="2600" dirty="0"/>
          </a:p>
        </p:txBody>
      </p:sp>
      <p:sp>
        <p:nvSpPr>
          <p:cNvPr id="12" name="Text 10"/>
          <p:cNvSpPr/>
          <p:nvPr/>
        </p:nvSpPr>
        <p:spPr>
          <a:xfrm>
            <a:off x="2514600" y="2231136"/>
            <a:ext cx="1965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Race Accuracy</a:t>
            </a:r>
            <a:endParaRPr lang="en-US" sz="1100" dirty="0"/>
          </a:p>
        </p:txBody>
      </p:sp>
      <p:sp>
        <p:nvSpPr>
          <p:cNvPr id="13" name="Text 11"/>
          <p:cNvSpPr/>
          <p:nvPr/>
        </p:nvSpPr>
        <p:spPr>
          <a:xfrm>
            <a:off x="2514600" y="2487168"/>
            <a:ext cx="1965960" cy="201168"/>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Random Forest (10/24)</a:t>
            </a:r>
            <a:endParaRPr lang="en-US" sz="900" dirty="0"/>
          </a:p>
        </p:txBody>
      </p:sp>
      <p:sp>
        <p:nvSpPr>
          <p:cNvPr id="14" name="Shape 12"/>
          <p:cNvSpPr/>
          <p:nvPr/>
        </p:nvSpPr>
        <p:spPr>
          <a:xfrm>
            <a:off x="4663440" y="1719072"/>
            <a:ext cx="1965960" cy="1097280"/>
          </a:xfrm>
          <a:prstGeom prst="rect">
            <a:avLst/>
          </a:prstGeom>
          <a:solidFill>
            <a:srgbClr val="0F3460"/>
          </a:solidFill>
          <a:ln w="12700">
            <a:solidFill>
              <a:srgbClr val="2A4F8A"/>
            </a:solidFill>
            <a:prstDash val="solid"/>
          </a:ln>
        </p:spPr>
      </p:sp>
      <p:sp>
        <p:nvSpPr>
          <p:cNvPr id="15" name="Text 13"/>
          <p:cNvSpPr/>
          <p:nvPr/>
        </p:nvSpPr>
        <p:spPr>
          <a:xfrm>
            <a:off x="4663440" y="1773936"/>
            <a:ext cx="1965960" cy="475488"/>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0.930</a:t>
            </a:r>
            <a:endParaRPr lang="en-US" sz="2600" dirty="0"/>
          </a:p>
        </p:txBody>
      </p:sp>
      <p:sp>
        <p:nvSpPr>
          <p:cNvPr id="16" name="Text 14"/>
          <p:cNvSpPr/>
          <p:nvPr/>
        </p:nvSpPr>
        <p:spPr>
          <a:xfrm>
            <a:off x="4663440" y="2231136"/>
            <a:ext cx="1965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AUC Score</a:t>
            </a:r>
            <a:endParaRPr lang="en-US" sz="1100" dirty="0"/>
          </a:p>
        </p:txBody>
      </p:sp>
      <p:sp>
        <p:nvSpPr>
          <p:cNvPr id="17" name="Text 15"/>
          <p:cNvSpPr/>
          <p:nvPr/>
        </p:nvSpPr>
        <p:spPr>
          <a:xfrm>
            <a:off x="4663440" y="2487168"/>
            <a:ext cx="1965960" cy="201168"/>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XGBoost</a:t>
            </a:r>
            <a:endParaRPr lang="en-US" sz="900" dirty="0"/>
          </a:p>
        </p:txBody>
      </p:sp>
      <p:sp>
        <p:nvSpPr>
          <p:cNvPr id="18" name="Shape 16"/>
          <p:cNvSpPr/>
          <p:nvPr/>
        </p:nvSpPr>
        <p:spPr>
          <a:xfrm>
            <a:off x="6812280" y="1719072"/>
            <a:ext cx="1965960" cy="1097280"/>
          </a:xfrm>
          <a:prstGeom prst="rect">
            <a:avLst/>
          </a:prstGeom>
          <a:solidFill>
            <a:srgbClr val="0F3460"/>
          </a:solidFill>
          <a:ln w="12700">
            <a:solidFill>
              <a:srgbClr val="2A4F8A"/>
            </a:solidFill>
            <a:prstDash val="solid"/>
          </a:ln>
        </p:spPr>
      </p:sp>
      <p:sp>
        <p:nvSpPr>
          <p:cNvPr id="19" name="Text 17"/>
          <p:cNvSpPr/>
          <p:nvPr/>
        </p:nvSpPr>
        <p:spPr>
          <a:xfrm>
            <a:off x="6812280" y="1773936"/>
            <a:ext cx="1965960" cy="475488"/>
          </a:xfrm>
          <a:prstGeom prst="rect">
            <a:avLst/>
          </a:prstGeom>
          <a:noFill/>
          <a:ln/>
        </p:spPr>
        <p:txBody>
          <a:bodyPr wrap="square" rtlCol="0" anchor="ctr"/>
          <a:lstStyle/>
          <a:p>
            <a:pPr marL="0" indent="0" algn="ctr">
              <a:buNone/>
            </a:pPr>
            <a:r>
              <a:rPr lang="en-US" sz="2600" b="1" dirty="0">
                <a:solidFill>
                  <a:srgbClr val="E94560"/>
                </a:solidFill>
                <a:latin typeface="Calibri" pitchFamily="34" charset="0"/>
                <a:ea typeface="Calibri" pitchFamily="34" charset="-122"/>
                <a:cs typeface="Calibri" pitchFamily="34" charset="-120"/>
              </a:rPr>
              <a:t>+58.9%</a:t>
            </a:r>
            <a:endParaRPr lang="en-US" sz="2600" dirty="0"/>
          </a:p>
        </p:txBody>
      </p:sp>
      <p:sp>
        <p:nvSpPr>
          <p:cNvPr id="20" name="Text 18"/>
          <p:cNvSpPr/>
          <p:nvPr/>
        </p:nvSpPr>
        <p:spPr>
          <a:xfrm>
            <a:off x="6812280" y="2231136"/>
            <a:ext cx="196596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Constructor Lift</a:t>
            </a:r>
            <a:endParaRPr lang="en-US" sz="1100" dirty="0"/>
          </a:p>
        </p:txBody>
      </p:sp>
      <p:sp>
        <p:nvSpPr>
          <p:cNvPr id="21" name="Text 19"/>
          <p:cNvSpPr/>
          <p:nvPr/>
        </p:nvSpPr>
        <p:spPr>
          <a:xfrm>
            <a:off x="6812280" y="2487168"/>
            <a:ext cx="1965960" cy="201168"/>
          </a:xfrm>
          <a:prstGeom prst="rect">
            <a:avLst/>
          </a:prstGeom>
          <a:noFill/>
          <a:ln/>
        </p:spPr>
        <p:txBody>
          <a:bodyPr wrap="square" rtlCol="0" anchor="ctr"/>
          <a:lstStyle/>
          <a:p>
            <a:pPr marL="0" indent="0" algn="ctr">
              <a:buNone/>
            </a:pPr>
            <a:r>
              <a:rPr lang="en-US" sz="900" dirty="0">
                <a:solidFill>
                  <a:srgbClr val="A0A0B0"/>
                </a:solidFill>
                <a:latin typeface="Calibri" pitchFamily="34" charset="0"/>
                <a:ea typeface="Calibri" pitchFamily="34" charset="-122"/>
                <a:cs typeface="Calibri" pitchFamily="34" charset="-120"/>
              </a:rPr>
              <a:t>vs driver-only model</a:t>
            </a:r>
            <a:endParaRPr lang="en-US" sz="900" dirty="0"/>
          </a:p>
        </p:txBody>
      </p:sp>
      <p:sp>
        <p:nvSpPr>
          <p:cNvPr id="22" name="Text 20"/>
          <p:cNvSpPr/>
          <p:nvPr/>
        </p:nvSpPr>
        <p:spPr>
          <a:xfrm>
            <a:off x="365760" y="2926080"/>
            <a:ext cx="841248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Key Lessons</a:t>
            </a:r>
            <a:endParaRPr lang="en-US" sz="1400" dirty="0"/>
          </a:p>
        </p:txBody>
      </p:sp>
      <p:sp>
        <p:nvSpPr>
          <p:cNvPr id="23" name="Shape 21"/>
          <p:cNvSpPr/>
          <p:nvPr/>
        </p:nvSpPr>
        <p:spPr>
          <a:xfrm>
            <a:off x="365760" y="3291840"/>
            <a:ext cx="73152" cy="365760"/>
          </a:xfrm>
          <a:prstGeom prst="rect">
            <a:avLst/>
          </a:prstGeom>
          <a:solidFill>
            <a:srgbClr val="E94560"/>
          </a:solidFill>
          <a:ln w="12700">
            <a:solidFill>
              <a:srgbClr val="E94560"/>
            </a:solidFill>
            <a:prstDash val="solid"/>
          </a:ln>
        </p:spPr>
      </p:sp>
      <p:sp>
        <p:nvSpPr>
          <p:cNvPr id="24" name="Text 22"/>
          <p:cNvSpPr/>
          <p:nvPr/>
        </p:nvSpPr>
        <p:spPr>
          <a:xfrm>
            <a:off x="548640" y="3291840"/>
            <a:ext cx="8138160" cy="365760"/>
          </a:xfrm>
          <a:prstGeom prst="rect">
            <a:avLst/>
          </a:prstGeom>
          <a:noFill/>
          <a:ln/>
        </p:spPr>
        <p:txBody>
          <a:bodyPr wrap="square" rtlCol="0" anchor="ctr"/>
          <a:lstStyle/>
          <a:p>
            <a:pPr marL="0" indent="0">
              <a:buNone/>
            </a:pPr>
            <a:r>
              <a:rPr lang="en-US" sz="1150" dirty="0">
                <a:solidFill>
                  <a:srgbClr val="D0D0E0"/>
                </a:solidFill>
                <a:latin typeface="Calibri" pitchFamily="34" charset="0"/>
                <a:ea typeface="Calibri" pitchFamily="34" charset="-122"/>
                <a:cs typeface="Calibri" pitchFamily="34" charset="-120"/>
              </a:rPr>
              <a:t>Row-level accuracy (0.92) is misleading — use race-level accuracy for real-world evaluation</a:t>
            </a:r>
            <a:endParaRPr lang="en-US" sz="1150" dirty="0"/>
          </a:p>
        </p:txBody>
      </p:sp>
      <p:sp>
        <p:nvSpPr>
          <p:cNvPr id="25" name="Shape 23"/>
          <p:cNvSpPr/>
          <p:nvPr/>
        </p:nvSpPr>
        <p:spPr>
          <a:xfrm>
            <a:off x="365760" y="3822192"/>
            <a:ext cx="73152" cy="365760"/>
          </a:xfrm>
          <a:prstGeom prst="rect">
            <a:avLst/>
          </a:prstGeom>
          <a:solidFill>
            <a:srgbClr val="E94560"/>
          </a:solidFill>
          <a:ln w="12700">
            <a:solidFill>
              <a:srgbClr val="E94560"/>
            </a:solidFill>
            <a:prstDash val="solid"/>
          </a:ln>
        </p:spPr>
      </p:sp>
      <p:sp>
        <p:nvSpPr>
          <p:cNvPr id="26" name="Text 24"/>
          <p:cNvSpPr/>
          <p:nvPr/>
        </p:nvSpPr>
        <p:spPr>
          <a:xfrm>
            <a:off x="548640" y="3822192"/>
            <a:ext cx="8138160" cy="365760"/>
          </a:xfrm>
          <a:prstGeom prst="rect">
            <a:avLst/>
          </a:prstGeom>
          <a:noFill/>
          <a:ln/>
        </p:spPr>
        <p:txBody>
          <a:bodyPr wrap="square" rtlCol="0" anchor="ctr"/>
          <a:lstStyle/>
          <a:p>
            <a:pPr marL="0" indent="0">
              <a:buNone/>
            </a:pPr>
            <a:r>
              <a:rPr lang="en-US" sz="1150" dirty="0">
                <a:solidFill>
                  <a:srgbClr val="D0D0E0"/>
                </a:solidFill>
                <a:latin typeface="Calibri" pitchFamily="34" charset="0"/>
                <a:ea typeface="Calibri" pitchFamily="34" charset="-122"/>
                <a:cs typeface="Calibri" pitchFamily="34" charset="-120"/>
              </a:rPr>
              <a:t>Qualifying position dominates all other features — car speed on Saturday predicts Sunday's winner</a:t>
            </a:r>
            <a:endParaRPr lang="en-US" sz="1150" dirty="0"/>
          </a:p>
        </p:txBody>
      </p:sp>
      <p:sp>
        <p:nvSpPr>
          <p:cNvPr id="27" name="Shape 25"/>
          <p:cNvSpPr/>
          <p:nvPr/>
        </p:nvSpPr>
        <p:spPr>
          <a:xfrm>
            <a:off x="365760" y="4352544"/>
            <a:ext cx="73152" cy="365760"/>
          </a:xfrm>
          <a:prstGeom prst="rect">
            <a:avLst/>
          </a:prstGeom>
          <a:solidFill>
            <a:srgbClr val="E94560"/>
          </a:solidFill>
          <a:ln w="12700">
            <a:solidFill>
              <a:srgbClr val="E94560"/>
            </a:solidFill>
            <a:prstDash val="solid"/>
          </a:ln>
        </p:spPr>
      </p:sp>
      <p:sp>
        <p:nvSpPr>
          <p:cNvPr id="28" name="Text 26"/>
          <p:cNvSpPr/>
          <p:nvPr/>
        </p:nvSpPr>
        <p:spPr>
          <a:xfrm>
            <a:off x="548640" y="4352544"/>
            <a:ext cx="8138160" cy="365760"/>
          </a:xfrm>
          <a:prstGeom prst="rect">
            <a:avLst/>
          </a:prstGeom>
          <a:noFill/>
          <a:ln/>
        </p:spPr>
        <p:txBody>
          <a:bodyPr wrap="square" rtlCol="0" anchor="ctr"/>
          <a:lstStyle/>
          <a:p>
            <a:pPr marL="0" indent="0">
              <a:buNone/>
            </a:pPr>
            <a:r>
              <a:rPr lang="en-US" sz="1150" dirty="0">
                <a:solidFill>
                  <a:srgbClr val="D0D0E0"/>
                </a:solidFill>
                <a:latin typeface="Calibri" pitchFamily="34" charset="0"/>
                <a:ea typeface="Calibri" pitchFamily="34" charset="-122"/>
                <a:cs typeface="Calibri" pitchFamily="34" charset="-120"/>
              </a:rPr>
              <a:t>The right metric matters: XGBoost wins on F1, Random Forest wins on what actually counts</a:t>
            </a:r>
            <a:endParaRPr lang="en-US" sz="1150" dirty="0"/>
          </a:p>
        </p:txBody>
      </p:sp>
      <p:sp>
        <p:nvSpPr>
          <p:cNvPr id="29" name="Text 27"/>
          <p:cNvSpPr/>
          <p:nvPr/>
        </p:nvSpPr>
        <p:spPr>
          <a:xfrm>
            <a:off x="365760" y="4773168"/>
            <a:ext cx="8412480" cy="256032"/>
          </a:xfrm>
          <a:prstGeom prst="rect">
            <a:avLst/>
          </a:prstGeom>
          <a:noFill/>
          <a:ln/>
        </p:spPr>
        <p:txBody>
          <a:bodyPr wrap="square" rtlCol="0" anchor="ctr"/>
          <a:lstStyle/>
          <a:p>
            <a:pPr marL="0" indent="0">
              <a:buNone/>
            </a:pPr>
            <a:r>
              <a:rPr lang="en-US" sz="1200" i="1" dirty="0">
                <a:solidFill>
                  <a:srgbClr val="A0A0B0"/>
                </a:solidFill>
                <a:latin typeface="Calibri" pitchFamily="34" charset="0"/>
                <a:ea typeface="Calibri" pitchFamily="34" charset="-122"/>
                <a:cs typeface="Calibri" pitchFamily="34" charset="-120"/>
              </a:rPr>
              <a:t>Thank you  |  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879</Words>
  <Application>Microsoft Office PowerPoint</Application>
  <PresentationFormat>Экран (16:9)</PresentationFormat>
  <Paragraphs>207</Paragraphs>
  <Slides>8</Slides>
  <Notes>8</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8</vt:i4>
      </vt:variant>
    </vt:vector>
  </HeadingPairs>
  <TitlesOfParts>
    <vt:vector size="11"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Darhan</cp:lastModifiedBy>
  <cp:revision>2</cp:revision>
  <dcterms:created xsi:type="dcterms:W3CDTF">2026-05-29T05:50:56Z</dcterms:created>
  <dcterms:modified xsi:type="dcterms:W3CDTF">2026-05-29T18:07:16Z</dcterms:modified>
</cp:coreProperties>
</file>